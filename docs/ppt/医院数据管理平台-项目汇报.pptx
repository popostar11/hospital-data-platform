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</p:sldIdLst>
  <p:sldSz cx="1219136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72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 showGuides="1">
      <p:cViewPr varScale="1">
        <p:scale>
          <a:sx n="124" d="100"/>
          <a:sy n="124" d="100"/>
        </p:scale>
        <p:origin x="-1512" y="-112"/>
      </p:cViewPr>
      <p:guideLst>
        <p:guide orient="horz" pos="2172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0" Type="http://schemas.openxmlformats.org/officeDocument/2006/relationships/tableStyles" Target="tableStyles.xml"/><Relationship Id="rId2" Type="http://schemas.openxmlformats.org/officeDocument/2006/relationships/theme" Target="theme/theme1.xml"/><Relationship Id="rId19" Type="http://schemas.openxmlformats.org/officeDocument/2006/relationships/viewProps" Target="viewProps.xml"/><Relationship Id="rId18" Type="http://schemas.openxmlformats.org/officeDocument/2006/relationships/presProps" Target="presProps.xml"/><Relationship Id="rId17" Type="http://schemas.openxmlformats.org/officeDocument/2006/relationships/slide" Target="slides/slide15.xml"/><Relationship Id="rId16" Type="http://schemas.openxmlformats.org/officeDocument/2006/relationships/slide" Target="slides/slide14.xml"/><Relationship Id="rId15" Type="http://schemas.openxmlformats.org/officeDocument/2006/relationships/slide" Target="slides/slide13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9" Type="http://schemas.openxmlformats.org/officeDocument/2006/relationships/tags" Target="../tags/tag9.xml"/><Relationship Id="rId8" Type="http://schemas.openxmlformats.org/officeDocument/2006/relationships/tags" Target="../tags/tag8.xml"/><Relationship Id="rId7" Type="http://schemas.openxmlformats.org/officeDocument/2006/relationships/tags" Target="../tags/tag7.xml"/><Relationship Id="rId6" Type="http://schemas.openxmlformats.org/officeDocument/2006/relationships/tags" Target="../tags/tag6.xml"/><Relationship Id="rId5" Type="http://schemas.openxmlformats.org/officeDocument/2006/relationships/tags" Target="../tags/tag5.xml"/><Relationship Id="rId4" Type="http://schemas.openxmlformats.org/officeDocument/2006/relationships/tags" Target="../tags/tag4.xml"/><Relationship Id="rId3" Type="http://schemas.openxmlformats.org/officeDocument/2006/relationships/tags" Target="../tags/tag3.xml"/><Relationship Id="rId26" Type="http://schemas.openxmlformats.org/officeDocument/2006/relationships/slideLayout" Target="../slideLayouts/slideLayout7.xml"/><Relationship Id="rId25" Type="http://schemas.openxmlformats.org/officeDocument/2006/relationships/tags" Target="../tags/tag25.xml"/><Relationship Id="rId24" Type="http://schemas.openxmlformats.org/officeDocument/2006/relationships/tags" Target="../tags/tag24.xml"/><Relationship Id="rId23" Type="http://schemas.openxmlformats.org/officeDocument/2006/relationships/tags" Target="../tags/tag23.xml"/><Relationship Id="rId22" Type="http://schemas.openxmlformats.org/officeDocument/2006/relationships/tags" Target="../tags/tag22.xml"/><Relationship Id="rId21" Type="http://schemas.openxmlformats.org/officeDocument/2006/relationships/tags" Target="../tags/tag21.xml"/><Relationship Id="rId20" Type="http://schemas.openxmlformats.org/officeDocument/2006/relationships/tags" Target="../tags/tag20.xml"/><Relationship Id="rId2" Type="http://schemas.openxmlformats.org/officeDocument/2006/relationships/tags" Target="../tags/tag2.xml"/><Relationship Id="rId19" Type="http://schemas.openxmlformats.org/officeDocument/2006/relationships/tags" Target="../tags/tag19.xml"/><Relationship Id="rId18" Type="http://schemas.openxmlformats.org/officeDocument/2006/relationships/tags" Target="../tags/tag18.xml"/><Relationship Id="rId17" Type="http://schemas.openxmlformats.org/officeDocument/2006/relationships/tags" Target="../tags/tag17.xml"/><Relationship Id="rId16" Type="http://schemas.openxmlformats.org/officeDocument/2006/relationships/tags" Target="../tags/tag16.xml"/><Relationship Id="rId15" Type="http://schemas.openxmlformats.org/officeDocument/2006/relationships/tags" Target="../tags/tag15.xml"/><Relationship Id="rId14" Type="http://schemas.openxmlformats.org/officeDocument/2006/relationships/tags" Target="../tags/tag14.xml"/><Relationship Id="rId13" Type="http://schemas.openxmlformats.org/officeDocument/2006/relationships/tags" Target="../tags/tag13.xml"/><Relationship Id="rId12" Type="http://schemas.openxmlformats.org/officeDocument/2006/relationships/tags" Target="../tags/tag12.xml"/><Relationship Id="rId11" Type="http://schemas.openxmlformats.org/officeDocument/2006/relationships/tags" Target="../tags/tag11.xml"/><Relationship Id="rId10" Type="http://schemas.openxmlformats.org/officeDocument/2006/relationships/tags" Target="../tags/tag10.xml"/><Relationship Id="rId1" Type="http://schemas.openxmlformats.org/officeDocument/2006/relationships/tags" Target="../tags/tag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209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7FE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creen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18704" y="502920"/>
            <a:ext cx="4233672" cy="2377440"/>
          </a:xfrm>
          <a:prstGeom prst="rect">
            <a:avLst/>
          </a:prstGeom>
        </p:spPr>
      </p:pic>
      <p:pic>
        <p:nvPicPr>
          <p:cNvPr id="5" name="Picture 4" descr="adm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18704" y="3127248"/>
            <a:ext cx="4233672" cy="23774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932688"/>
            <a:ext cx="6675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>
                <a:solidFill>
                  <a:srgbClr val="5CC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项目汇报 / PROJECT REPORT</a:t>
            </a:r>
            <a:endParaRPr sz="1250" b="1">
              <a:solidFill>
                <a:srgbClr val="5CC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66928" y="1325880"/>
            <a:ext cx="6949440" cy="1600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40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医院数据管理平台</a:t>
            </a:r>
            <a:endParaRPr sz="40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/>
            <a:r>
              <a:rPr sz="4000" b="1">
                <a:solidFill>
                  <a:srgbClr val="7FE3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急救绿道</a:t>
            </a:r>
            <a:endParaRPr sz="4000" b="1">
              <a:solidFill>
                <a:srgbClr val="7FE3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66928" y="3127248"/>
            <a:ext cx="68580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0">
                <a:solidFill>
                  <a:srgbClr val="C7DCF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一块大屏看全局，一个后台管细节。</a:t>
            </a:r>
            <a:endParaRPr sz="1350" b="0">
              <a:solidFill>
                <a:srgbClr val="C7DCF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/>
            <a:r>
              <a:rPr sz="1350" b="0">
                <a:solidFill>
                  <a:srgbClr val="C7DCF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把「急救快不快」从翻表格，变成抬头看屏幕。</a:t>
            </a:r>
            <a:endParaRPr sz="1350" b="0">
              <a:solidFill>
                <a:srgbClr val="C7DCF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66928" y="4224528"/>
            <a:ext cx="21488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>
                <a:solidFill>
                  <a:srgbClr val="7F9DC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形态</a:t>
            </a:r>
            <a:endParaRPr sz="1050" b="0">
              <a:solidFill>
                <a:srgbClr val="7F9DC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66928" y="4453128"/>
            <a:ext cx="224028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大屏终端 + 管理后台</a:t>
            </a:r>
            <a:endParaRPr sz="125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2807208" y="4224528"/>
            <a:ext cx="21488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>
                <a:solidFill>
                  <a:srgbClr val="7F9DC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技术栈</a:t>
            </a:r>
            <a:endParaRPr sz="1050" b="0">
              <a:solidFill>
                <a:srgbClr val="7F9DC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2807208" y="4453128"/>
            <a:ext cx="224028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Vue3 + NestJS + SQLite</a:t>
            </a:r>
            <a:endParaRPr sz="125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5047488" y="4224528"/>
            <a:ext cx="21488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>
                <a:solidFill>
                  <a:srgbClr val="7F9DC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交付</a:t>
            </a:r>
            <a:endParaRPr sz="1050" b="0">
              <a:solidFill>
                <a:srgbClr val="7F9DC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5047488" y="4453128"/>
            <a:ext cx="224028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三种可运行形态 + 71 项验收</a:t>
            </a:r>
            <a:endParaRPr sz="125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566928" y="5230368"/>
            <a:ext cx="694944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>
                <a:solidFill>
                  <a:srgbClr val="7FFFE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汇报要点：形态 · 技术栈 · 交付内容 · 方案选择 · 开箱即跑</a:t>
            </a:r>
            <a:endParaRPr sz="1250" b="1">
              <a:solidFill>
                <a:srgbClr val="7FFFE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566928" y="6437376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7E9EC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医院数据管理平台 · 急救绿道 · 封面</a:t>
            </a:r>
            <a:endParaRPr sz="950" b="0">
              <a:solidFill>
                <a:srgbClr val="7E9EC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9795967" y="6437376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0">
                <a:solidFill>
                  <a:srgbClr val="7E9EC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01 / 15</a:t>
            </a:r>
            <a:endParaRPr sz="950" b="0">
              <a:solidFill>
                <a:srgbClr val="7E9EC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1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7FE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65760"/>
            <a:ext cx="11057839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>
                <a:solidFill>
                  <a:srgbClr val="5CC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结论先行 / SUMMARY</a:t>
            </a:r>
            <a:endParaRPr sz="1150" b="1">
              <a:solidFill>
                <a:srgbClr val="5CC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66928" y="621792"/>
            <a:ext cx="11057839" cy="512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700" b="1">
                <a:solidFill>
                  <a:srgbClr val="ECF7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五件事，先看结论</a:t>
            </a:r>
            <a:endParaRPr sz="2700" b="1">
              <a:solidFill>
                <a:srgbClr val="ECF7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66928" y="1115568"/>
            <a:ext cx="11057839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BBD4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这套系统已经开发完成、通过验收并发布公网，院内双击即用；下面五页各说一件事。</a:t>
            </a:r>
            <a:endParaRPr sz="1250" b="0">
              <a:solidFill>
                <a:srgbClr val="BBD4E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66928" y="6437376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7E9EC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医院数据管理平台 · 急救绿道</a:t>
            </a:r>
            <a:endParaRPr sz="950" b="0">
              <a:solidFill>
                <a:srgbClr val="7E9EC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795967" y="6437376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0">
                <a:solidFill>
                  <a:srgbClr val="7E9EC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02 / 15</a:t>
            </a:r>
            <a:endParaRPr sz="950" b="0">
              <a:solidFill>
                <a:srgbClr val="7E9EC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" name="Rounded Rectangle 8"/>
          <p:cNvSpPr/>
          <p:nvPr>
            <p:custDataLst>
              <p:tags r:id="rId1"/>
            </p:custDataLst>
          </p:nvPr>
        </p:nvSpPr>
        <p:spPr>
          <a:xfrm>
            <a:off x="566928" y="1627632"/>
            <a:ext cx="2123785" cy="2880360"/>
          </a:xfrm>
          <a:prstGeom prst="roundRect">
            <a:avLst>
              <a:gd name="adj" fmla="val 6000"/>
            </a:avLst>
          </a:prstGeom>
          <a:solidFill>
            <a:srgbClr val="061A38"/>
          </a:solidFill>
          <a:ln w="9525">
            <a:solidFill>
              <a:srgbClr val="1A4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>
            <p:custDataLst>
              <p:tags r:id="rId2"/>
            </p:custDataLst>
          </p:nvPr>
        </p:nvSpPr>
        <p:spPr>
          <a:xfrm>
            <a:off x="795528" y="1801368"/>
            <a:ext cx="310896" cy="310896"/>
          </a:xfrm>
          <a:prstGeom prst="ellipse">
            <a:avLst/>
          </a:prstGeom>
          <a:solidFill>
            <a:srgbClr val="7FE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100" b="1">
                <a:solidFill>
                  <a:srgbClr val="0209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</a:t>
            </a:r>
            <a:endParaRPr sz="1100" b="1">
              <a:solidFill>
                <a:srgbClr val="02091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>
            <p:custDataLst>
              <p:tags r:id="rId3"/>
            </p:custDataLst>
          </p:nvPr>
        </p:nvSpPr>
        <p:spPr>
          <a:xfrm>
            <a:off x="786384" y="2249424"/>
            <a:ext cx="1684873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5CC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形态 FORM</a:t>
            </a:r>
            <a:endParaRPr sz="1000" b="1">
              <a:solidFill>
                <a:srgbClr val="5CC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" name="TextBox 11"/>
          <p:cNvSpPr txBox="1"/>
          <p:nvPr>
            <p:custDataLst>
              <p:tags r:id="rId4"/>
            </p:custDataLst>
          </p:nvPr>
        </p:nvSpPr>
        <p:spPr>
          <a:xfrm>
            <a:off x="786384" y="2542032"/>
            <a:ext cx="1684873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>
                <a:solidFill>
                  <a:srgbClr val="ECF7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三种打开方式</a:t>
            </a:r>
            <a:endParaRPr sz="1450" b="1">
              <a:solidFill>
                <a:srgbClr val="ECF7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3" name="TextBox 12"/>
          <p:cNvSpPr txBox="1"/>
          <p:nvPr>
            <p:custDataLst>
              <p:tags r:id="rId5"/>
            </p:custDataLst>
          </p:nvPr>
        </p:nvSpPr>
        <p:spPr>
          <a:xfrm>
            <a:off x="786384" y="3456432"/>
            <a:ext cx="1684873" cy="628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BBD4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大屏常驻看全局、</a:t>
            </a:r>
            <a:endParaRPr sz="1050" b="0">
              <a:solidFill>
                <a:srgbClr val="BBD4E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</a:pPr>
            <a:r>
              <a:rPr sz="1050" b="0">
                <a:solidFill>
                  <a:srgbClr val="BBD4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后台管录入、</a:t>
            </a:r>
            <a:endParaRPr sz="1050" b="0">
              <a:solidFill>
                <a:srgbClr val="BBD4E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</a:pPr>
            <a:r>
              <a:rPr sz="1050" b="0">
                <a:solidFill>
                  <a:srgbClr val="BBD4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公网发链接即可演示</a:t>
            </a:r>
            <a:endParaRPr sz="1050" b="0">
              <a:solidFill>
                <a:srgbClr val="BBD4E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4" name="Rounded Rectangle 13"/>
          <p:cNvSpPr/>
          <p:nvPr>
            <p:custDataLst>
              <p:tags r:id="rId6"/>
            </p:custDataLst>
          </p:nvPr>
        </p:nvSpPr>
        <p:spPr>
          <a:xfrm>
            <a:off x="2800441" y="1627632"/>
            <a:ext cx="2123785" cy="2880360"/>
          </a:xfrm>
          <a:prstGeom prst="roundRect">
            <a:avLst>
              <a:gd name="adj" fmla="val 6000"/>
            </a:avLst>
          </a:prstGeom>
          <a:solidFill>
            <a:srgbClr val="061A38"/>
          </a:solidFill>
          <a:ln w="9525">
            <a:solidFill>
              <a:srgbClr val="1A4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>
            <p:custDataLst>
              <p:tags r:id="rId7"/>
            </p:custDataLst>
          </p:nvPr>
        </p:nvSpPr>
        <p:spPr>
          <a:xfrm>
            <a:off x="3029041" y="1801368"/>
            <a:ext cx="310896" cy="310896"/>
          </a:xfrm>
          <a:prstGeom prst="ellipse">
            <a:avLst/>
          </a:prstGeom>
          <a:solidFill>
            <a:srgbClr val="7FE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100" b="1">
                <a:solidFill>
                  <a:srgbClr val="0209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</a:t>
            </a:r>
            <a:endParaRPr sz="1100" b="1">
              <a:solidFill>
                <a:srgbClr val="02091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6" name="TextBox 15"/>
          <p:cNvSpPr txBox="1"/>
          <p:nvPr>
            <p:custDataLst>
              <p:tags r:id="rId8"/>
            </p:custDataLst>
          </p:nvPr>
        </p:nvSpPr>
        <p:spPr>
          <a:xfrm>
            <a:off x="3019897" y="2249424"/>
            <a:ext cx="1684873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5CC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技术栈 STACK</a:t>
            </a:r>
            <a:endParaRPr sz="1000" b="1">
              <a:solidFill>
                <a:srgbClr val="5CC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7" name="TextBox 16"/>
          <p:cNvSpPr txBox="1"/>
          <p:nvPr>
            <p:custDataLst>
              <p:tags r:id="rId9"/>
            </p:custDataLst>
          </p:nvPr>
        </p:nvSpPr>
        <p:spPr>
          <a:xfrm>
            <a:off x="3019897" y="2542032"/>
            <a:ext cx="1684873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>
                <a:solidFill>
                  <a:srgbClr val="ECF7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前端照搬主流</a:t>
            </a:r>
            <a:endParaRPr sz="1450" b="1">
              <a:solidFill>
                <a:srgbClr val="ECF7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8" name="TextBox 17"/>
          <p:cNvSpPr txBox="1"/>
          <p:nvPr>
            <p:custDataLst>
              <p:tags r:id="rId10"/>
            </p:custDataLst>
          </p:nvPr>
        </p:nvSpPr>
        <p:spPr>
          <a:xfrm>
            <a:off x="3019897" y="3456432"/>
            <a:ext cx="1684873" cy="628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BBD4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Vue3 + Element Plus + ECharts；</a:t>
            </a:r>
            <a:endParaRPr sz="1050" b="0">
              <a:solidFill>
                <a:srgbClr val="BBD4E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</a:pPr>
            <a:r>
              <a:rPr sz="1050" b="0">
                <a:solidFill>
                  <a:srgbClr val="BBD4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后端按单机场景精简</a:t>
            </a:r>
            <a:endParaRPr sz="1050" b="0">
              <a:solidFill>
                <a:srgbClr val="BBD4E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9" name="Rounded Rectangle 18"/>
          <p:cNvSpPr/>
          <p:nvPr>
            <p:custDataLst>
              <p:tags r:id="rId11"/>
            </p:custDataLst>
          </p:nvPr>
        </p:nvSpPr>
        <p:spPr>
          <a:xfrm>
            <a:off x="5033954" y="1627632"/>
            <a:ext cx="2123785" cy="2880360"/>
          </a:xfrm>
          <a:prstGeom prst="roundRect">
            <a:avLst>
              <a:gd name="adj" fmla="val 6000"/>
            </a:avLst>
          </a:prstGeom>
          <a:solidFill>
            <a:srgbClr val="061A38"/>
          </a:solidFill>
          <a:ln w="9525">
            <a:solidFill>
              <a:srgbClr val="1A4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>
            <p:custDataLst>
              <p:tags r:id="rId12"/>
            </p:custDataLst>
          </p:nvPr>
        </p:nvSpPr>
        <p:spPr>
          <a:xfrm>
            <a:off x="5262554" y="1801368"/>
            <a:ext cx="310896" cy="310896"/>
          </a:xfrm>
          <a:prstGeom prst="ellipse">
            <a:avLst/>
          </a:prstGeom>
          <a:solidFill>
            <a:srgbClr val="7FE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100" b="1">
                <a:solidFill>
                  <a:srgbClr val="0209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3</a:t>
            </a:r>
            <a:endParaRPr sz="1100" b="1">
              <a:solidFill>
                <a:srgbClr val="02091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1" name="TextBox 20"/>
          <p:cNvSpPr txBox="1"/>
          <p:nvPr>
            <p:custDataLst>
              <p:tags r:id="rId13"/>
            </p:custDataLst>
          </p:nvPr>
        </p:nvSpPr>
        <p:spPr>
          <a:xfrm>
            <a:off x="5253410" y="2249424"/>
            <a:ext cx="1684873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5CC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交付内容 DELIVERABLES</a:t>
            </a:r>
            <a:endParaRPr sz="1000" b="1">
              <a:solidFill>
                <a:srgbClr val="5CC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2" name="TextBox 21"/>
          <p:cNvSpPr txBox="1"/>
          <p:nvPr>
            <p:custDataLst>
              <p:tags r:id="rId14"/>
            </p:custDataLst>
          </p:nvPr>
        </p:nvSpPr>
        <p:spPr>
          <a:xfrm>
            <a:off x="5253410" y="2542032"/>
            <a:ext cx="1684873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>
                <a:solidFill>
                  <a:srgbClr val="ECF7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源码 + 文档 + 可运行系统</a:t>
            </a:r>
            <a:endParaRPr sz="1450" b="1">
              <a:solidFill>
                <a:srgbClr val="ECF7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3" name="TextBox 22"/>
          <p:cNvSpPr txBox="1"/>
          <p:nvPr>
            <p:custDataLst>
              <p:tags r:id="rId15"/>
            </p:custDataLst>
          </p:nvPr>
        </p:nvSpPr>
        <p:spPr>
          <a:xfrm>
            <a:off x="5253410" y="3456432"/>
            <a:ext cx="1684873" cy="628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BBD4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公开仓库</a:t>
            </a:r>
            <a:r>
              <a:rPr lang="en-US" sz="1050" b="0">
                <a:solidFill>
                  <a:srgbClr val="BBD4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github</a:t>
            </a:r>
            <a:r>
              <a:rPr sz="1050" b="0">
                <a:solidFill>
                  <a:srgbClr val="BBD4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、</a:t>
            </a:r>
            <a:endParaRPr sz="1050" b="0">
              <a:solidFill>
                <a:srgbClr val="BBD4E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</a:pPr>
            <a:r>
              <a:rPr sz="1050" b="0">
                <a:solidFill>
                  <a:srgbClr val="BBD4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部署手册、</a:t>
            </a:r>
            <a:endParaRPr sz="1050" b="0">
              <a:solidFill>
                <a:srgbClr val="BBD4E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</a:pPr>
            <a:r>
              <a:rPr sz="1050" b="0">
                <a:solidFill>
                  <a:srgbClr val="BBD4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4 套自动化验收</a:t>
            </a:r>
            <a:endParaRPr sz="1050" b="0">
              <a:solidFill>
                <a:srgbClr val="BBD4E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4" name="Rounded Rectangle 23"/>
          <p:cNvSpPr/>
          <p:nvPr>
            <p:custDataLst>
              <p:tags r:id="rId16"/>
            </p:custDataLst>
          </p:nvPr>
        </p:nvSpPr>
        <p:spPr>
          <a:xfrm>
            <a:off x="7267468" y="1627632"/>
            <a:ext cx="2123785" cy="2880360"/>
          </a:xfrm>
          <a:prstGeom prst="roundRect">
            <a:avLst>
              <a:gd name="adj" fmla="val 6000"/>
            </a:avLst>
          </a:prstGeom>
          <a:solidFill>
            <a:srgbClr val="061A38"/>
          </a:solidFill>
          <a:ln w="9525">
            <a:solidFill>
              <a:srgbClr val="1A4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>
            <p:custDataLst>
              <p:tags r:id="rId17"/>
            </p:custDataLst>
          </p:nvPr>
        </p:nvSpPr>
        <p:spPr>
          <a:xfrm>
            <a:off x="7496068" y="1801368"/>
            <a:ext cx="310896" cy="310896"/>
          </a:xfrm>
          <a:prstGeom prst="ellipse">
            <a:avLst/>
          </a:prstGeom>
          <a:solidFill>
            <a:srgbClr val="7FE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100" b="1">
                <a:solidFill>
                  <a:srgbClr val="0209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4</a:t>
            </a:r>
            <a:endParaRPr sz="1100" b="1">
              <a:solidFill>
                <a:srgbClr val="02091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6" name="TextBox 25"/>
          <p:cNvSpPr txBox="1"/>
          <p:nvPr>
            <p:custDataLst>
              <p:tags r:id="rId18"/>
            </p:custDataLst>
          </p:nvPr>
        </p:nvSpPr>
        <p:spPr>
          <a:xfrm>
            <a:off x="7486924" y="2249424"/>
            <a:ext cx="1684873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5CC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方案选择 RATIONALE</a:t>
            </a:r>
            <a:endParaRPr sz="1000" b="1">
              <a:solidFill>
                <a:srgbClr val="5CC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7" name="TextBox 26"/>
          <p:cNvSpPr txBox="1"/>
          <p:nvPr>
            <p:custDataLst>
              <p:tags r:id="rId19"/>
            </p:custDataLst>
          </p:nvPr>
        </p:nvSpPr>
        <p:spPr>
          <a:xfrm>
            <a:off x="7486924" y="2542032"/>
            <a:ext cx="1684873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>
                <a:solidFill>
                  <a:srgbClr val="ECF7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按场景匹配，不做堆料</a:t>
            </a:r>
            <a:endParaRPr sz="1450" b="1">
              <a:solidFill>
                <a:srgbClr val="ECF7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8" name="TextBox 27"/>
          <p:cNvSpPr txBox="1"/>
          <p:nvPr>
            <p:custDataLst>
              <p:tags r:id="rId20"/>
            </p:custDataLst>
          </p:nvPr>
        </p:nvSpPr>
        <p:spPr>
          <a:xfrm>
            <a:off x="7486924" y="3456432"/>
            <a:ext cx="1684873" cy="4191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BBD4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省掉 4 个需运维的组件，</a:t>
            </a:r>
            <a:endParaRPr sz="1050" b="0">
              <a:solidFill>
                <a:srgbClr val="BBD4E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</a:pPr>
            <a:r>
              <a:rPr sz="1050" b="0">
                <a:solidFill>
                  <a:srgbClr val="BBD4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换来双击即用</a:t>
            </a:r>
            <a:endParaRPr sz="1050" b="0">
              <a:solidFill>
                <a:srgbClr val="BBD4E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9" name="Rounded Rectangle 28"/>
          <p:cNvSpPr/>
          <p:nvPr>
            <p:custDataLst>
              <p:tags r:id="rId21"/>
            </p:custDataLst>
          </p:nvPr>
        </p:nvSpPr>
        <p:spPr>
          <a:xfrm>
            <a:off x="9500981" y="1627632"/>
            <a:ext cx="2123785" cy="2880360"/>
          </a:xfrm>
          <a:prstGeom prst="roundRect">
            <a:avLst>
              <a:gd name="adj" fmla="val 6000"/>
            </a:avLst>
          </a:prstGeom>
          <a:solidFill>
            <a:srgbClr val="061A38"/>
          </a:solidFill>
          <a:ln w="9525">
            <a:solidFill>
              <a:srgbClr val="1A4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>
            <p:custDataLst>
              <p:tags r:id="rId22"/>
            </p:custDataLst>
          </p:nvPr>
        </p:nvSpPr>
        <p:spPr>
          <a:xfrm>
            <a:off x="9729581" y="1801368"/>
            <a:ext cx="310896" cy="310896"/>
          </a:xfrm>
          <a:prstGeom prst="ellipse">
            <a:avLst/>
          </a:prstGeom>
          <a:solidFill>
            <a:srgbClr val="7FE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100" b="1">
                <a:solidFill>
                  <a:srgbClr val="0209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5</a:t>
            </a:r>
            <a:endParaRPr sz="1100" b="1">
              <a:solidFill>
                <a:srgbClr val="02091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1" name="TextBox 30"/>
          <p:cNvSpPr txBox="1"/>
          <p:nvPr>
            <p:custDataLst>
              <p:tags r:id="rId23"/>
            </p:custDataLst>
          </p:nvPr>
        </p:nvSpPr>
        <p:spPr>
          <a:xfrm>
            <a:off x="9720437" y="2249424"/>
            <a:ext cx="1684873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5CC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开箱即跑 ZERO-SETUP</a:t>
            </a:r>
            <a:endParaRPr sz="1000" b="1">
              <a:solidFill>
                <a:srgbClr val="5CC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2" name="TextBox 31"/>
          <p:cNvSpPr txBox="1"/>
          <p:nvPr>
            <p:custDataLst>
              <p:tags r:id="rId24"/>
            </p:custDataLst>
          </p:nvPr>
        </p:nvSpPr>
        <p:spPr>
          <a:xfrm>
            <a:off x="9720437" y="2542032"/>
            <a:ext cx="1684873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>
                <a:solidFill>
                  <a:srgbClr val="ECF7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零配置，30 秒可用</a:t>
            </a:r>
            <a:endParaRPr sz="1450" b="1">
              <a:solidFill>
                <a:srgbClr val="ECF7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3" name="TextBox 32"/>
          <p:cNvSpPr txBox="1"/>
          <p:nvPr>
            <p:custDataLst>
              <p:tags r:id="rId25"/>
            </p:custDataLst>
          </p:nvPr>
        </p:nvSpPr>
        <p:spPr>
          <a:xfrm>
            <a:off x="9720437" y="3456432"/>
            <a:ext cx="1684873" cy="628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BBD4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自动装依赖建库、</a:t>
            </a:r>
            <a:endParaRPr sz="1050" b="0">
              <a:solidFill>
                <a:srgbClr val="BBD4E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</a:pPr>
            <a:r>
              <a:rPr sz="1050" b="0">
                <a:solidFill>
                  <a:srgbClr val="BBD4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崩了自愈、</a:t>
            </a:r>
            <a:endParaRPr sz="1050" b="0">
              <a:solidFill>
                <a:srgbClr val="BBD4E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</a:pPr>
            <a:r>
              <a:rPr sz="1050" b="0">
                <a:solidFill>
                  <a:srgbClr val="BBD4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开机自启</a:t>
            </a:r>
            <a:endParaRPr sz="1050" b="0">
              <a:solidFill>
                <a:srgbClr val="BBD4E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566928" y="4846320"/>
            <a:ext cx="11057839" cy="539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5CC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一句话：</a:t>
            </a:r>
            <a:r>
              <a:rPr sz="1300" b="0">
                <a:solidFill>
                  <a:srgbClr val="BBD4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在没有专职运维、没有独立机房的前提下，用最小的组件数交付了一套</a:t>
            </a:r>
            <a:r>
              <a:rPr sz="1300" b="1">
                <a:solidFill>
                  <a:srgbClr val="7FFFE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完整可用、可公开演示、可长期免维护运行</a:t>
            </a:r>
            <a:r>
              <a:rPr sz="1300" b="0">
                <a:solidFill>
                  <a:srgbClr val="BBD4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的系统。</a:t>
            </a:r>
            <a:endParaRPr sz="1300" b="0">
              <a:solidFill>
                <a:srgbClr val="BBD4E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5000"/>
              </a:lnSpc>
            </a:pPr>
            <a:endParaRPr sz="1300" b="0">
              <a:solidFill>
                <a:srgbClr val="BBD4E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1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7FE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65760"/>
            <a:ext cx="11057839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>
                <a:solidFill>
                  <a:srgbClr val="5CC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形态 / FORM</a:t>
            </a:r>
            <a:endParaRPr sz="1150" b="1">
              <a:solidFill>
                <a:srgbClr val="5CC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66928" y="621792"/>
            <a:ext cx="11057839" cy="512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700" b="1">
                <a:solidFill>
                  <a:srgbClr val="ECF7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三种形态，对应三种使用场景</a:t>
            </a:r>
            <a:endParaRPr sz="2700" b="1">
              <a:solidFill>
                <a:srgbClr val="ECF7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66928" y="1115568"/>
            <a:ext cx="11057839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BBD4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同一套系统，按「谁在用、在哪用」提供三种打开方式，数据和口径完全一致。</a:t>
            </a:r>
            <a:endParaRPr sz="1250" b="0">
              <a:solidFill>
                <a:srgbClr val="BBD4E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66928" y="6437376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7E9EC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医院数据管理平台 · 急救绿道</a:t>
            </a:r>
            <a:endParaRPr sz="950" b="0">
              <a:solidFill>
                <a:srgbClr val="7E9EC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795967" y="6437376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0">
                <a:solidFill>
                  <a:srgbClr val="7E9EC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03 / 15</a:t>
            </a:r>
            <a:endParaRPr sz="950" b="0">
              <a:solidFill>
                <a:srgbClr val="7E9EC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566928" y="1627632"/>
            <a:ext cx="3527450" cy="3794760"/>
          </a:xfrm>
          <a:prstGeom prst="roundRect">
            <a:avLst>
              <a:gd name="adj" fmla="val 6000"/>
            </a:avLst>
          </a:prstGeom>
          <a:solidFill>
            <a:srgbClr val="061A38"/>
          </a:solidFill>
          <a:ln w="9525">
            <a:solidFill>
              <a:srgbClr val="1A4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66928" y="1627632"/>
            <a:ext cx="3527450" cy="68580"/>
          </a:xfrm>
          <a:prstGeom prst="roundRect">
            <a:avLst>
              <a:gd name="adj" fmla="val 50000"/>
            </a:avLst>
          </a:prstGeom>
          <a:solidFill>
            <a:srgbClr val="5CC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847088"/>
            <a:ext cx="3015386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>
                <a:solidFill>
                  <a:srgbClr val="5CC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场景一 · 常驻</a:t>
            </a:r>
            <a:endParaRPr sz="1050" b="1">
              <a:solidFill>
                <a:srgbClr val="5CC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822960" y="2139696"/>
            <a:ext cx="3015386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>
                <a:solidFill>
                  <a:srgbClr val="ECF7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大屏终端</a:t>
            </a:r>
            <a:endParaRPr sz="1900" b="1">
              <a:solidFill>
                <a:srgbClr val="ECF7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822960" y="2596896"/>
            <a:ext cx="3015386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7E9EC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急诊 / 医务科 / 指挥中心</a:t>
            </a:r>
            <a:endParaRPr sz="1150" b="0">
              <a:solidFill>
                <a:srgbClr val="7E9EC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822960" y="2980944"/>
            <a:ext cx="3015386" cy="1600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700"/>
              </a:spcAft>
            </a:pPr>
            <a:r>
              <a:rPr sz="1100" b="0">
                <a:solidFill>
                  <a:srgbClr val="BBD4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· 只读展示，7×24 常驻</a:t>
            </a:r>
            <a:endParaRPr sz="1100" b="0">
              <a:solidFill>
                <a:srgbClr val="BBD4E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700"/>
              </a:spcAft>
            </a:pPr>
            <a:r>
              <a:rPr sz="1100" b="0">
                <a:solidFill>
                  <a:srgbClr val="BBD4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· 五个区域：总量、趋势、24 小时清单、未闭环提醒</a:t>
            </a:r>
            <a:endParaRPr sz="1100" b="0">
              <a:solidFill>
                <a:srgbClr val="BBD4E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700"/>
              </a:spcAft>
            </a:pPr>
            <a:r>
              <a:rPr sz="1100" b="0">
                <a:solidFill>
                  <a:srgbClr val="BBD4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· 超一屏自动无缝滚动，姓名已脱敏</a:t>
            </a:r>
            <a:endParaRPr sz="1100" b="0">
              <a:solidFill>
                <a:srgbClr val="BBD4E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822960" y="4681728"/>
            <a:ext cx="3015386" cy="566928"/>
          </a:xfrm>
          <a:prstGeom prst="roundRect">
            <a:avLst>
              <a:gd name="adj" fmla="val 10000"/>
            </a:avLst>
          </a:prstGeom>
          <a:solidFill>
            <a:srgbClr val="04122B"/>
          </a:solidFill>
          <a:ln w="9525">
            <a:solidFill>
              <a:srgbClr val="1A4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50976" y="4809744"/>
            <a:ext cx="2759354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5CC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打开 http://127.0.0.1:3000/screen/</a:t>
            </a:r>
            <a:endParaRPr sz="1000" b="0">
              <a:solidFill>
                <a:srgbClr val="5CC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4332122" y="1627632"/>
            <a:ext cx="3527450" cy="3794760"/>
          </a:xfrm>
          <a:prstGeom prst="roundRect">
            <a:avLst>
              <a:gd name="adj" fmla="val 6000"/>
            </a:avLst>
          </a:prstGeom>
          <a:solidFill>
            <a:srgbClr val="061A38"/>
          </a:solidFill>
          <a:ln w="9525">
            <a:solidFill>
              <a:srgbClr val="1A4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332122" y="1627632"/>
            <a:ext cx="3527450" cy="68580"/>
          </a:xfrm>
          <a:prstGeom prst="roundRect">
            <a:avLst>
              <a:gd name="adj" fmla="val 50000"/>
            </a:avLst>
          </a:prstGeom>
          <a:solidFill>
            <a:srgbClr val="7FE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88154" y="1847088"/>
            <a:ext cx="3015386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>
                <a:solidFill>
                  <a:srgbClr val="7FE3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场景二 · 日常</a:t>
            </a:r>
            <a:endParaRPr sz="1050" b="1">
              <a:solidFill>
                <a:srgbClr val="7FE3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4588154" y="2139696"/>
            <a:ext cx="3015386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>
                <a:solidFill>
                  <a:srgbClr val="ECF7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管理后台</a:t>
            </a:r>
            <a:endParaRPr sz="1900" b="1">
              <a:solidFill>
                <a:srgbClr val="ECF7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4588154" y="2596896"/>
            <a:ext cx="3015386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7E9EC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医生 / 护士 / 管理员 / 质控</a:t>
            </a:r>
            <a:endParaRPr sz="1150" b="0">
              <a:solidFill>
                <a:srgbClr val="7E9EC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4588154" y="2980944"/>
            <a:ext cx="3015386" cy="1600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700"/>
              </a:spcAft>
            </a:pPr>
            <a:r>
              <a:rPr sz="1100" b="0">
                <a:solidFill>
                  <a:srgbClr val="BBD4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· 13 个页面：病例、患者、字典、组织、报表、审计</a:t>
            </a:r>
            <a:endParaRPr sz="1100" b="0">
              <a:solidFill>
                <a:srgbClr val="BBD4E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700"/>
              </a:spcAft>
            </a:pPr>
            <a:r>
              <a:rPr sz="1100" b="0">
                <a:solidFill>
                  <a:srgbClr val="BBD4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· 7 种角色，越权由系统强制拦截</a:t>
            </a:r>
            <a:endParaRPr sz="1100" b="0">
              <a:solidFill>
                <a:srgbClr val="BBD4E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700"/>
              </a:spcAft>
            </a:pPr>
            <a:r>
              <a:rPr sz="1100" b="0">
                <a:solidFill>
                  <a:srgbClr val="BBD4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· 报表一键导出 Excel</a:t>
            </a:r>
            <a:endParaRPr sz="1100" b="0">
              <a:solidFill>
                <a:srgbClr val="BBD4E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3" name="Rounded Rectangle 22"/>
          <p:cNvSpPr/>
          <p:nvPr/>
        </p:nvSpPr>
        <p:spPr>
          <a:xfrm>
            <a:off x="4588154" y="4681728"/>
            <a:ext cx="3015386" cy="566928"/>
          </a:xfrm>
          <a:prstGeom prst="roundRect">
            <a:avLst>
              <a:gd name="adj" fmla="val 10000"/>
            </a:avLst>
          </a:prstGeom>
          <a:solidFill>
            <a:srgbClr val="04122B"/>
          </a:solidFill>
          <a:ln w="9525">
            <a:solidFill>
              <a:srgbClr val="1A4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716170" y="4809744"/>
            <a:ext cx="2759354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5CC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打开 http://127.0.0.1:3000/admin/</a:t>
            </a:r>
            <a:endParaRPr sz="1000" b="0">
              <a:solidFill>
                <a:srgbClr val="5CC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5" name="Rounded Rectangle 24"/>
          <p:cNvSpPr/>
          <p:nvPr/>
        </p:nvSpPr>
        <p:spPr>
          <a:xfrm>
            <a:off x="8097316" y="1627632"/>
            <a:ext cx="3527450" cy="3794760"/>
          </a:xfrm>
          <a:prstGeom prst="roundRect">
            <a:avLst>
              <a:gd name="adj" fmla="val 6000"/>
            </a:avLst>
          </a:prstGeom>
          <a:solidFill>
            <a:srgbClr val="061A38"/>
          </a:solidFill>
          <a:ln w="9525">
            <a:solidFill>
              <a:srgbClr val="1A4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097316" y="1627632"/>
            <a:ext cx="3527450" cy="68580"/>
          </a:xfrm>
          <a:prstGeom prst="roundRect">
            <a:avLst>
              <a:gd name="adj" fmla="val 50000"/>
            </a:avLst>
          </a:prstGeom>
          <a:solidFill>
            <a:srgbClr val="7FF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53348" y="1847088"/>
            <a:ext cx="3015386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>
                <a:solidFill>
                  <a:srgbClr val="7FFFE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场景三 · 对外</a:t>
            </a:r>
            <a:endParaRPr sz="1050" b="1">
              <a:solidFill>
                <a:srgbClr val="7FFFE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8353348" y="2139696"/>
            <a:ext cx="3015386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>
                <a:solidFill>
                  <a:srgbClr val="ECF7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公网演示</a:t>
            </a:r>
            <a:endParaRPr sz="1900" b="1">
              <a:solidFill>
                <a:srgbClr val="ECF7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8353348" y="2596896"/>
            <a:ext cx="3015386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7E9EC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同行 / 外出演示 / 领导查看</a:t>
            </a:r>
            <a:endParaRPr sz="1150" b="0">
              <a:solidFill>
                <a:srgbClr val="7E9EC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8353348" y="2980944"/>
            <a:ext cx="3015386" cy="1600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700"/>
              </a:spcAft>
            </a:pPr>
            <a:r>
              <a:rPr sz="1100" b="0">
                <a:solidFill>
                  <a:srgbClr val="BBD4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· 一个链接，任何设备打开即看</a:t>
            </a:r>
            <a:endParaRPr sz="1100" b="0">
              <a:solidFill>
                <a:srgbClr val="BBD4E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700"/>
              </a:spcAft>
            </a:pPr>
            <a:r>
              <a:rPr sz="1100" b="0">
                <a:solidFill>
                  <a:srgbClr val="BBD4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· 数据为导出的静态快照，只读</a:t>
            </a:r>
            <a:endParaRPr sz="1100" b="0">
              <a:solidFill>
                <a:srgbClr val="BBD4E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700"/>
              </a:spcAft>
            </a:pPr>
            <a:r>
              <a:rPr sz="1100" b="0">
                <a:solidFill>
                  <a:srgbClr val="BBD4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· 不需要服务器、账号，也不产生费用</a:t>
            </a:r>
            <a:endParaRPr sz="1100" b="0">
              <a:solidFill>
                <a:srgbClr val="BBD4E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1" name="Rounded Rectangle 30"/>
          <p:cNvSpPr/>
          <p:nvPr/>
        </p:nvSpPr>
        <p:spPr>
          <a:xfrm>
            <a:off x="8353348" y="4681728"/>
            <a:ext cx="3015386" cy="566928"/>
          </a:xfrm>
          <a:prstGeom prst="roundRect">
            <a:avLst>
              <a:gd name="adj" fmla="val 10000"/>
            </a:avLst>
          </a:prstGeom>
          <a:solidFill>
            <a:srgbClr val="04122B"/>
          </a:solidFill>
          <a:ln w="9525">
            <a:solidFill>
              <a:srgbClr val="1A4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481364" y="4809744"/>
            <a:ext cx="2759354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5CC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打开 popostar11.github.io/hospital-data-platform</a:t>
            </a:r>
            <a:endParaRPr sz="1000" b="0">
              <a:solidFill>
                <a:srgbClr val="5CC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1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7FE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65760"/>
            <a:ext cx="11057839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>
                <a:solidFill>
                  <a:srgbClr val="5CC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技术栈 / STACK</a:t>
            </a:r>
            <a:endParaRPr sz="1150" b="1">
              <a:solidFill>
                <a:srgbClr val="5CC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66928" y="621792"/>
            <a:ext cx="11057839" cy="512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700" b="1">
                <a:solidFill>
                  <a:srgbClr val="ECF7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技术栈全景：三层，九件</a:t>
            </a:r>
            <a:endParaRPr sz="2700" b="1">
              <a:solidFill>
                <a:srgbClr val="ECF7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66928" y="1115568"/>
            <a:ext cx="11057839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BBD4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前端四件照搬主流方案，后端与交付层按院内单机场景选型，每一件都在解决具体问题。</a:t>
            </a:r>
            <a:endParaRPr sz="1250" b="0">
              <a:solidFill>
                <a:srgbClr val="BBD4E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66928" y="6437376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7E9EC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医院数据管理平台 · 急救绿道</a:t>
            </a:r>
            <a:endParaRPr sz="950" b="0">
              <a:solidFill>
                <a:srgbClr val="7E9EC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795967" y="6437376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0">
                <a:solidFill>
                  <a:srgbClr val="7E9EC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04 / 15</a:t>
            </a:r>
            <a:endParaRPr sz="950" b="0">
              <a:solidFill>
                <a:srgbClr val="7E9EC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566928" y="1572768"/>
            <a:ext cx="1133856" cy="1207008"/>
          </a:xfrm>
          <a:prstGeom prst="roundRect">
            <a:avLst>
              <a:gd name="adj" fmla="val 6000"/>
            </a:avLst>
          </a:prstGeom>
          <a:solidFill>
            <a:srgbClr val="0C2C54"/>
          </a:solidFill>
          <a:ln w="9525">
            <a:solidFill>
              <a:srgbClr val="1A4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2020824"/>
            <a:ext cx="1133856" cy="3841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zh-CN" sz="1250" b="1">
                <a:solidFill>
                  <a:srgbClr val="ECF7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前端</a:t>
            </a:r>
            <a:endParaRPr sz="1250" b="1">
              <a:solidFill>
                <a:srgbClr val="ECF7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ctr"/>
            <a:r>
              <a:rPr sz="1250" b="1">
                <a:solidFill>
                  <a:srgbClr val="ECF7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表现层</a:t>
            </a:r>
            <a:endParaRPr sz="1250" b="1">
              <a:solidFill>
                <a:srgbClr val="ECF7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1865376" y="1572768"/>
            <a:ext cx="2336977" cy="1207008"/>
          </a:xfrm>
          <a:prstGeom prst="roundRect">
            <a:avLst>
              <a:gd name="adj" fmla="val 6000"/>
            </a:avLst>
          </a:prstGeom>
          <a:solidFill>
            <a:srgbClr val="061A38"/>
          </a:solidFill>
          <a:ln w="9525">
            <a:solidFill>
              <a:srgbClr val="1A4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865376" y="1572768"/>
            <a:ext cx="2336977" cy="54864"/>
          </a:xfrm>
          <a:prstGeom prst="rect">
            <a:avLst/>
          </a:prstGeom>
          <a:solidFill>
            <a:srgbClr val="5CC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29968" y="1792224"/>
            <a:ext cx="2007793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>
                <a:solidFill>
                  <a:srgbClr val="ECF7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Vue 3</a:t>
            </a:r>
            <a:endParaRPr sz="1250" b="1">
              <a:solidFill>
                <a:srgbClr val="ECF7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2029968" y="2176272"/>
            <a:ext cx="2007793" cy="512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BBD4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页面框架与响应式</a:t>
            </a:r>
            <a:endParaRPr sz="1000" b="0">
              <a:solidFill>
                <a:srgbClr val="BBD4E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4339513" y="1572768"/>
            <a:ext cx="2336977" cy="1207008"/>
          </a:xfrm>
          <a:prstGeom prst="roundRect">
            <a:avLst>
              <a:gd name="adj" fmla="val 6000"/>
            </a:avLst>
          </a:prstGeom>
          <a:solidFill>
            <a:srgbClr val="061A38"/>
          </a:solidFill>
          <a:ln w="9525">
            <a:solidFill>
              <a:srgbClr val="1A4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39513" y="1572768"/>
            <a:ext cx="2336977" cy="54864"/>
          </a:xfrm>
          <a:prstGeom prst="rect">
            <a:avLst/>
          </a:prstGeom>
          <a:solidFill>
            <a:srgbClr val="5CC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04105" y="1792224"/>
            <a:ext cx="2007793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>
                <a:solidFill>
                  <a:srgbClr val="ECF7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TypeScript</a:t>
            </a:r>
            <a:endParaRPr sz="1250" b="1">
              <a:solidFill>
                <a:srgbClr val="ECF7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4504105" y="2176272"/>
            <a:ext cx="2007793" cy="512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BBD4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类型契约，联调不返工</a:t>
            </a:r>
            <a:endParaRPr sz="1000" b="0">
              <a:solidFill>
                <a:srgbClr val="BBD4E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6813651" y="1572768"/>
            <a:ext cx="2336977" cy="1207008"/>
          </a:xfrm>
          <a:prstGeom prst="roundRect">
            <a:avLst>
              <a:gd name="adj" fmla="val 6000"/>
            </a:avLst>
          </a:prstGeom>
          <a:solidFill>
            <a:srgbClr val="061A38"/>
          </a:solidFill>
          <a:ln w="9525">
            <a:solidFill>
              <a:srgbClr val="1A4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813651" y="1572768"/>
            <a:ext cx="2336977" cy="54864"/>
          </a:xfrm>
          <a:prstGeom prst="rect">
            <a:avLst/>
          </a:prstGeom>
          <a:solidFill>
            <a:srgbClr val="5CC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978243" y="1792224"/>
            <a:ext cx="2007793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>
                <a:solidFill>
                  <a:srgbClr val="ECF7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Element Plus</a:t>
            </a:r>
            <a:endParaRPr sz="1250" b="1">
              <a:solidFill>
                <a:srgbClr val="ECF7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6978243" y="2176272"/>
            <a:ext cx="2007793" cy="512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BBD4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中后台组件库</a:t>
            </a:r>
            <a:endParaRPr sz="1000" b="0">
              <a:solidFill>
                <a:srgbClr val="BBD4E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3" name="Rounded Rectangle 22"/>
          <p:cNvSpPr/>
          <p:nvPr/>
        </p:nvSpPr>
        <p:spPr>
          <a:xfrm>
            <a:off x="9287789" y="1572768"/>
            <a:ext cx="2336977" cy="1207008"/>
          </a:xfrm>
          <a:prstGeom prst="roundRect">
            <a:avLst>
              <a:gd name="adj" fmla="val 6000"/>
            </a:avLst>
          </a:prstGeom>
          <a:solidFill>
            <a:srgbClr val="061A38"/>
          </a:solidFill>
          <a:ln w="9525">
            <a:solidFill>
              <a:srgbClr val="1A4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287789" y="1572768"/>
            <a:ext cx="2336977" cy="54864"/>
          </a:xfrm>
          <a:prstGeom prst="rect">
            <a:avLst/>
          </a:prstGeom>
          <a:solidFill>
            <a:srgbClr val="5CC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52381" y="1792224"/>
            <a:ext cx="2007793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>
                <a:solidFill>
                  <a:srgbClr val="ECF7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ECharts</a:t>
            </a:r>
            <a:endParaRPr sz="1250" b="1">
              <a:solidFill>
                <a:srgbClr val="ECF7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9452381" y="2176272"/>
            <a:ext cx="2007793" cy="512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BBD4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大屏图表与趋势</a:t>
            </a:r>
            <a:endParaRPr sz="1000" b="0">
              <a:solidFill>
                <a:srgbClr val="BBD4E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7" name="Rounded Rectangle 26"/>
          <p:cNvSpPr/>
          <p:nvPr/>
        </p:nvSpPr>
        <p:spPr>
          <a:xfrm>
            <a:off x="566928" y="2907791"/>
            <a:ext cx="1133856" cy="1207008"/>
          </a:xfrm>
          <a:prstGeom prst="roundRect">
            <a:avLst>
              <a:gd name="adj" fmla="val 6000"/>
            </a:avLst>
          </a:prstGeom>
          <a:solidFill>
            <a:srgbClr val="0C2C54"/>
          </a:solidFill>
          <a:ln w="9525">
            <a:solidFill>
              <a:srgbClr val="1A4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66928" y="3355848"/>
            <a:ext cx="1133856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50" b="1">
                <a:solidFill>
                  <a:srgbClr val="ECF7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服务层</a:t>
            </a:r>
            <a:endParaRPr sz="1250" b="1">
              <a:solidFill>
                <a:srgbClr val="ECF7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9" name="Rounded Rectangle 28"/>
          <p:cNvSpPr/>
          <p:nvPr/>
        </p:nvSpPr>
        <p:spPr>
          <a:xfrm>
            <a:off x="1865376" y="2907791"/>
            <a:ext cx="4811115" cy="1207008"/>
          </a:xfrm>
          <a:prstGeom prst="roundRect">
            <a:avLst>
              <a:gd name="adj" fmla="val 6000"/>
            </a:avLst>
          </a:prstGeom>
          <a:solidFill>
            <a:srgbClr val="061A38"/>
          </a:solidFill>
          <a:ln w="9525">
            <a:solidFill>
              <a:srgbClr val="1A4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865376" y="2907791"/>
            <a:ext cx="4811115" cy="54864"/>
          </a:xfrm>
          <a:prstGeom prst="rect">
            <a:avLst/>
          </a:prstGeom>
          <a:solidFill>
            <a:srgbClr val="7FE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029968" y="3127248"/>
            <a:ext cx="4481931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>
                <a:solidFill>
                  <a:srgbClr val="ECF7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NestJS 11</a:t>
            </a:r>
            <a:endParaRPr sz="1250" b="1">
              <a:solidFill>
                <a:srgbClr val="ECF7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2029968" y="3511296"/>
            <a:ext cx="4481931" cy="512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BBD4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分层架构 + 鉴权/拦截器/异常收口</a:t>
            </a:r>
            <a:endParaRPr sz="1000" b="0">
              <a:solidFill>
                <a:srgbClr val="BBD4E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3" name="Rounded Rectangle 32"/>
          <p:cNvSpPr/>
          <p:nvPr/>
        </p:nvSpPr>
        <p:spPr>
          <a:xfrm>
            <a:off x="6813651" y="2907791"/>
            <a:ext cx="4811115" cy="1207008"/>
          </a:xfrm>
          <a:prstGeom prst="roundRect">
            <a:avLst>
              <a:gd name="adj" fmla="val 6000"/>
            </a:avLst>
          </a:prstGeom>
          <a:solidFill>
            <a:srgbClr val="061A38"/>
          </a:solidFill>
          <a:ln w="9525">
            <a:solidFill>
              <a:srgbClr val="1A4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813651" y="2907791"/>
            <a:ext cx="4811115" cy="54864"/>
          </a:xfrm>
          <a:prstGeom prst="rect">
            <a:avLst/>
          </a:prstGeom>
          <a:solidFill>
            <a:srgbClr val="7FE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978243" y="3127248"/>
            <a:ext cx="4481931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>
                <a:solidFill>
                  <a:srgbClr val="ECF7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SQLite（Node 内置）</a:t>
            </a:r>
            <a:endParaRPr sz="1250" b="1">
              <a:solidFill>
                <a:srgbClr val="ECF7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6978243" y="3511296"/>
            <a:ext cx="4481931" cy="512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BBD4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单文件数据库，零安装零运维</a:t>
            </a:r>
            <a:endParaRPr sz="1000" b="0">
              <a:solidFill>
                <a:srgbClr val="BBD4E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7" name="Rounded Rectangle 36"/>
          <p:cNvSpPr/>
          <p:nvPr/>
        </p:nvSpPr>
        <p:spPr>
          <a:xfrm>
            <a:off x="566928" y="4242816"/>
            <a:ext cx="1133856" cy="1207008"/>
          </a:xfrm>
          <a:prstGeom prst="roundRect">
            <a:avLst>
              <a:gd name="adj" fmla="val 6000"/>
            </a:avLst>
          </a:prstGeom>
          <a:solidFill>
            <a:srgbClr val="0C2C54"/>
          </a:solidFill>
          <a:ln w="9525">
            <a:solidFill>
              <a:srgbClr val="1A4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66928" y="4690872"/>
            <a:ext cx="1133856" cy="3841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zh-CN" sz="1250" b="1">
                <a:solidFill>
                  <a:srgbClr val="ECF7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后端</a:t>
            </a:r>
            <a:endParaRPr sz="1250" b="1">
              <a:solidFill>
                <a:srgbClr val="ECF7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ctr"/>
            <a:r>
              <a:rPr sz="1250" b="1">
                <a:solidFill>
                  <a:srgbClr val="ECF7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交付层</a:t>
            </a:r>
            <a:endParaRPr sz="1250" b="1">
              <a:solidFill>
                <a:srgbClr val="ECF7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9" name="Rounded Rectangle 38"/>
          <p:cNvSpPr/>
          <p:nvPr/>
        </p:nvSpPr>
        <p:spPr>
          <a:xfrm>
            <a:off x="1865376" y="4242816"/>
            <a:ext cx="3161690" cy="1207008"/>
          </a:xfrm>
          <a:prstGeom prst="roundRect">
            <a:avLst>
              <a:gd name="adj" fmla="val 6000"/>
            </a:avLst>
          </a:prstGeom>
          <a:solidFill>
            <a:srgbClr val="061A38"/>
          </a:solidFill>
          <a:ln w="9525">
            <a:solidFill>
              <a:srgbClr val="1A4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865376" y="4242816"/>
            <a:ext cx="3161690" cy="54864"/>
          </a:xfrm>
          <a:prstGeom prst="rect">
            <a:avLst/>
          </a:prstGeom>
          <a:solidFill>
            <a:srgbClr val="7FF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029968" y="4462272"/>
            <a:ext cx="28325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>
                <a:solidFill>
                  <a:srgbClr val="ECF7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零依赖启动器</a:t>
            </a:r>
            <a:endParaRPr sz="1250" b="1">
              <a:solidFill>
                <a:srgbClr val="ECF7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2029968" y="4846320"/>
            <a:ext cx="2832506" cy="512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BBD4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自动装依赖、建库、灌数据、开浏览器</a:t>
            </a:r>
            <a:endParaRPr sz="1000" b="0">
              <a:solidFill>
                <a:srgbClr val="BBD4E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3" name="Rounded Rectangle 42"/>
          <p:cNvSpPr/>
          <p:nvPr/>
        </p:nvSpPr>
        <p:spPr>
          <a:xfrm>
            <a:off x="5164226" y="4242816"/>
            <a:ext cx="3161690" cy="1207008"/>
          </a:xfrm>
          <a:prstGeom prst="roundRect">
            <a:avLst>
              <a:gd name="adj" fmla="val 6000"/>
            </a:avLst>
          </a:prstGeom>
          <a:solidFill>
            <a:srgbClr val="061A38"/>
          </a:solidFill>
          <a:ln w="9525">
            <a:solidFill>
              <a:srgbClr val="1A4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164226" y="4242816"/>
            <a:ext cx="3161690" cy="54864"/>
          </a:xfrm>
          <a:prstGeom prst="rect">
            <a:avLst/>
          </a:prstGeom>
          <a:solidFill>
            <a:srgbClr val="7FF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328818" y="4462272"/>
            <a:ext cx="28325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>
                <a:solidFill>
                  <a:srgbClr val="ECF7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后台守护进程</a:t>
            </a:r>
            <a:endParaRPr sz="1250" b="1">
              <a:solidFill>
                <a:srgbClr val="ECF7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5328818" y="4846320"/>
            <a:ext cx="2832506" cy="512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BBD4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无窗口、崩了自愈、开机自启</a:t>
            </a:r>
            <a:endParaRPr sz="1000" b="0">
              <a:solidFill>
                <a:srgbClr val="BBD4E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7" name="Rounded Rectangle 46"/>
          <p:cNvSpPr/>
          <p:nvPr/>
        </p:nvSpPr>
        <p:spPr>
          <a:xfrm>
            <a:off x="8463076" y="4242816"/>
            <a:ext cx="3161690" cy="1207008"/>
          </a:xfrm>
          <a:prstGeom prst="roundRect">
            <a:avLst>
              <a:gd name="adj" fmla="val 6000"/>
            </a:avLst>
          </a:prstGeom>
          <a:solidFill>
            <a:srgbClr val="061A38"/>
          </a:solidFill>
          <a:ln w="9525">
            <a:solidFill>
              <a:srgbClr val="1A4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463076" y="4242816"/>
            <a:ext cx="3161690" cy="54864"/>
          </a:xfrm>
          <a:prstGeom prst="rect">
            <a:avLst/>
          </a:prstGeom>
          <a:solidFill>
            <a:srgbClr val="7FF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627668" y="4462272"/>
            <a:ext cx="28325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>
                <a:solidFill>
                  <a:srgbClr val="ECF7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Cloudflare Workers + D1</a:t>
            </a:r>
            <a:endParaRPr sz="1250" b="1">
              <a:solidFill>
                <a:srgbClr val="ECF7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0" name="TextBox 49"/>
          <p:cNvSpPr txBox="1"/>
          <p:nvPr/>
        </p:nvSpPr>
        <p:spPr>
          <a:xfrm>
            <a:off x="8627668" y="4846320"/>
            <a:ext cx="2832506" cy="512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BBD4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公网版后端，免费额度足够</a:t>
            </a:r>
            <a:endParaRPr sz="1000" b="0">
              <a:solidFill>
                <a:srgbClr val="BBD4E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566928" y="5632703"/>
            <a:ext cx="11057839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>
                <a:solidFill>
                  <a:srgbClr val="FFC24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未采用：</a:t>
            </a:r>
            <a:r>
              <a:rPr sz="1150" b="0">
                <a:solidFill>
                  <a:srgbClr val="BBD4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Prisma · MySQL 8 · Redis · Docker · Nginx —— 不是不会用，是按当前场景没必要，理由见第 6 页。</a:t>
            </a:r>
            <a:endParaRPr sz="1150" b="0">
              <a:solidFill>
                <a:srgbClr val="BBD4E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1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7FE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65760"/>
            <a:ext cx="11057839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>
                <a:solidFill>
                  <a:srgbClr val="5CC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技术栈 / STACK</a:t>
            </a:r>
            <a:endParaRPr sz="1150" b="1">
              <a:solidFill>
                <a:srgbClr val="5CC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66928" y="621792"/>
            <a:ext cx="11057839" cy="512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700" b="1">
                <a:solidFill>
                  <a:srgbClr val="ECF7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前端：四件各司其职，一件都不能省</a:t>
            </a:r>
            <a:endParaRPr sz="2700" b="1">
              <a:solidFill>
                <a:srgbClr val="ECF7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66928" y="1115568"/>
            <a:ext cx="11057839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BBD4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前端组件的运行成本由浏览器承担，不需要运维，所以直接采用最成熟的组合。</a:t>
            </a:r>
            <a:endParaRPr sz="1250" b="0">
              <a:solidFill>
                <a:srgbClr val="BBD4E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66928" y="6437376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7E9EC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医院数据管理平台 · 急救绿道</a:t>
            </a:r>
            <a:endParaRPr sz="950" b="0">
              <a:solidFill>
                <a:srgbClr val="7E9EC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795967" y="6437376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0">
                <a:solidFill>
                  <a:srgbClr val="7E9EC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05 / 15</a:t>
            </a:r>
            <a:endParaRPr sz="950" b="0">
              <a:solidFill>
                <a:srgbClr val="7E9EC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566928" y="1627632"/>
            <a:ext cx="2668447" cy="3794760"/>
          </a:xfrm>
          <a:prstGeom prst="roundRect">
            <a:avLst>
              <a:gd name="adj" fmla="val 6000"/>
            </a:avLst>
          </a:prstGeom>
          <a:solidFill>
            <a:srgbClr val="061A38"/>
          </a:solidFill>
          <a:ln w="9525">
            <a:solidFill>
              <a:srgbClr val="1A4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1865376"/>
            <a:ext cx="420624" cy="420624"/>
          </a:xfrm>
          <a:prstGeom prst="ellipse">
            <a:avLst/>
          </a:prstGeom>
          <a:solidFill>
            <a:srgbClr val="0C2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200" b="1">
                <a:solidFill>
                  <a:srgbClr val="5CC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◆</a:t>
            </a:r>
            <a:endParaRPr sz="1200" b="1">
              <a:solidFill>
                <a:srgbClr val="5CC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804672" y="2432304"/>
            <a:ext cx="2192959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>
                <a:solidFill>
                  <a:srgbClr val="ECF7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Vue 3</a:t>
            </a:r>
            <a:endParaRPr sz="1600" b="1">
              <a:solidFill>
                <a:srgbClr val="ECF7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804672" y="2761488"/>
            <a:ext cx="2192959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>
                <a:solidFill>
                  <a:srgbClr val="5CC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页面框架</a:t>
            </a:r>
            <a:endParaRPr sz="1050" b="1">
              <a:solidFill>
                <a:srgbClr val="5CC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804672" y="3145536"/>
            <a:ext cx="2192959" cy="2103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050" b="0">
                <a:solidFill>
                  <a:srgbClr val="BBD4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· 组合式 API + TypeScript 推导好</a:t>
            </a:r>
            <a:endParaRPr sz="1050" b="0">
              <a:solidFill>
                <a:srgbClr val="BBD4E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050" b="0">
                <a:solidFill>
                  <a:srgbClr val="BBD4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· 中文生态最厚，新人接手快</a:t>
            </a:r>
            <a:endParaRPr sz="1050" b="0">
              <a:solidFill>
                <a:srgbClr val="BBD4E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050" b="0">
                <a:solidFill>
                  <a:srgbClr val="BBD4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· 中后台页面多、人员流动大，团队成本最低</a:t>
            </a:r>
            <a:endParaRPr sz="1050" b="0">
              <a:solidFill>
                <a:srgbClr val="BBD4E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3363391" y="1627632"/>
            <a:ext cx="2668447" cy="3794760"/>
          </a:xfrm>
          <a:prstGeom prst="roundRect">
            <a:avLst>
              <a:gd name="adj" fmla="val 6000"/>
            </a:avLst>
          </a:prstGeom>
          <a:solidFill>
            <a:srgbClr val="061A38"/>
          </a:solidFill>
          <a:ln w="9525">
            <a:solidFill>
              <a:srgbClr val="1A4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601135" y="1865376"/>
            <a:ext cx="420624" cy="420624"/>
          </a:xfrm>
          <a:prstGeom prst="ellipse">
            <a:avLst/>
          </a:prstGeom>
          <a:solidFill>
            <a:srgbClr val="0C2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200" b="1">
                <a:solidFill>
                  <a:srgbClr val="5CC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◆</a:t>
            </a:r>
            <a:endParaRPr sz="1200" b="1">
              <a:solidFill>
                <a:srgbClr val="5CC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3601135" y="2432304"/>
            <a:ext cx="2192959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>
                <a:solidFill>
                  <a:srgbClr val="ECF7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TypeScript</a:t>
            </a:r>
            <a:endParaRPr sz="1600" b="1">
              <a:solidFill>
                <a:srgbClr val="ECF7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3601135" y="2761488"/>
            <a:ext cx="2192959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>
                <a:solidFill>
                  <a:srgbClr val="5CC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类型契约</a:t>
            </a:r>
            <a:endParaRPr sz="1050" b="1">
              <a:solidFill>
                <a:srgbClr val="5CC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3601135" y="3145536"/>
            <a:ext cx="2192959" cy="2103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050" b="0">
                <a:solidFill>
                  <a:srgbClr val="BBD4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· 前后端共享类型定义</a:t>
            </a:r>
            <a:endParaRPr sz="1050" b="0">
              <a:solidFill>
                <a:srgbClr val="BBD4E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050" b="0">
                <a:solidFill>
                  <a:srgbClr val="BBD4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· 接口字段改名时编译期就报错</a:t>
            </a:r>
            <a:endParaRPr sz="1050" b="0">
              <a:solidFill>
                <a:srgbClr val="BBD4E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050" b="0">
                <a:solidFill>
                  <a:srgbClr val="BBD4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· 把「联调返工」提前到开发阶段发现</a:t>
            </a:r>
            <a:endParaRPr sz="1050" b="0">
              <a:solidFill>
                <a:srgbClr val="BBD4E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6159855" y="1627632"/>
            <a:ext cx="2668447" cy="3794760"/>
          </a:xfrm>
          <a:prstGeom prst="roundRect">
            <a:avLst>
              <a:gd name="adj" fmla="val 6000"/>
            </a:avLst>
          </a:prstGeom>
          <a:solidFill>
            <a:srgbClr val="061A38"/>
          </a:solidFill>
          <a:ln w="9525">
            <a:solidFill>
              <a:srgbClr val="1A4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97599" y="1865376"/>
            <a:ext cx="420624" cy="420624"/>
          </a:xfrm>
          <a:prstGeom prst="ellipse">
            <a:avLst/>
          </a:prstGeom>
          <a:solidFill>
            <a:srgbClr val="0C2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200" b="1">
                <a:solidFill>
                  <a:srgbClr val="5CC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◆</a:t>
            </a:r>
            <a:endParaRPr sz="1200" b="1">
              <a:solidFill>
                <a:srgbClr val="5CC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6397599" y="2432304"/>
            <a:ext cx="2192959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>
                <a:solidFill>
                  <a:srgbClr val="ECF7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Element Plus</a:t>
            </a:r>
            <a:endParaRPr sz="1600" b="1">
              <a:solidFill>
                <a:srgbClr val="ECF7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6397599" y="2761488"/>
            <a:ext cx="2192959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>
                <a:solidFill>
                  <a:srgbClr val="5CC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组件库</a:t>
            </a:r>
            <a:endParaRPr sz="1050" b="1">
              <a:solidFill>
                <a:srgbClr val="5CC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6397599" y="3145536"/>
            <a:ext cx="2192959" cy="2103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050" b="0">
                <a:solidFill>
                  <a:srgbClr val="BBD4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· 表格、分页、表单校验、树、上传全现成</a:t>
            </a:r>
            <a:endParaRPr sz="1050" b="0">
              <a:solidFill>
                <a:srgbClr val="BBD4E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050" b="0">
                <a:solidFill>
                  <a:srgbClr val="BBD4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· 中后台 80% 的页面是增删改查</a:t>
            </a:r>
            <a:endParaRPr sz="1050" b="0">
              <a:solidFill>
                <a:srgbClr val="BBD4E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050" b="0">
                <a:solidFill>
                  <a:srgbClr val="BBD4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· 组件库直接决定交付速度</a:t>
            </a:r>
            <a:endParaRPr sz="1050" b="0">
              <a:solidFill>
                <a:srgbClr val="BBD4E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4" name="Rounded Rectangle 23"/>
          <p:cNvSpPr/>
          <p:nvPr/>
        </p:nvSpPr>
        <p:spPr>
          <a:xfrm>
            <a:off x="8956319" y="1627632"/>
            <a:ext cx="2668447" cy="3794760"/>
          </a:xfrm>
          <a:prstGeom prst="roundRect">
            <a:avLst>
              <a:gd name="adj" fmla="val 6000"/>
            </a:avLst>
          </a:prstGeom>
          <a:solidFill>
            <a:srgbClr val="061A38"/>
          </a:solidFill>
          <a:ln w="9525">
            <a:solidFill>
              <a:srgbClr val="1A4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194063" y="1865376"/>
            <a:ext cx="420624" cy="420624"/>
          </a:xfrm>
          <a:prstGeom prst="ellipse">
            <a:avLst/>
          </a:prstGeom>
          <a:solidFill>
            <a:srgbClr val="0C2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200" b="1">
                <a:solidFill>
                  <a:srgbClr val="5CC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◆</a:t>
            </a:r>
            <a:endParaRPr sz="1200" b="1">
              <a:solidFill>
                <a:srgbClr val="5CC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9194063" y="2432304"/>
            <a:ext cx="2192959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>
                <a:solidFill>
                  <a:srgbClr val="ECF7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ECharts</a:t>
            </a:r>
            <a:endParaRPr sz="1600" b="1">
              <a:solidFill>
                <a:srgbClr val="ECF7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9194063" y="2761488"/>
            <a:ext cx="2192959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>
                <a:solidFill>
                  <a:srgbClr val="5CC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数据可视化</a:t>
            </a:r>
            <a:endParaRPr sz="1050" b="1">
              <a:solidFill>
                <a:srgbClr val="5CC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9194063" y="3145536"/>
            <a:ext cx="2192959" cy="2103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050" b="0">
                <a:solidFill>
                  <a:srgbClr val="BBD4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· 柱状/饼/折线/地图全覆盖</a:t>
            </a:r>
            <a:endParaRPr sz="1050" b="0">
              <a:solidFill>
                <a:srgbClr val="BBD4E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050" b="0">
                <a:solidFill>
                  <a:srgbClr val="BBD4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· canvas 渲染，数据量大也流畅</a:t>
            </a:r>
            <a:endParaRPr sz="1050" b="0">
              <a:solidFill>
                <a:srgbClr val="BBD4E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050" b="0">
                <a:solidFill>
                  <a:srgbClr val="BBD4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· 适配「数据变了就重画」的实时场景</a:t>
            </a:r>
            <a:endParaRPr sz="1050" b="0">
              <a:solidFill>
                <a:srgbClr val="BBD4E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1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7FE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65760"/>
            <a:ext cx="11057839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>
                <a:solidFill>
                  <a:srgbClr val="5CC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技术栈 / STACK</a:t>
            </a:r>
            <a:endParaRPr sz="1150" b="1">
              <a:solidFill>
                <a:srgbClr val="5CC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66928" y="621792"/>
            <a:ext cx="11057839" cy="512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700" b="1">
                <a:solidFill>
                  <a:srgbClr val="ECF7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后端与数据层：为什么减掉这 4 个组件</a:t>
            </a:r>
            <a:endParaRPr sz="2700" b="1">
              <a:solidFill>
                <a:srgbClr val="ECF7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66928" y="1115568"/>
            <a:ext cx="11057839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BBD4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每一个被省掉的组件，都是一个需要部署、监控、备份、排障的独立进程。</a:t>
            </a:r>
            <a:endParaRPr sz="1250" b="0">
              <a:solidFill>
                <a:srgbClr val="BBD4E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66928" y="6437376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7E9EC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医院数据管理平台 · 急救绿道</a:t>
            </a:r>
            <a:endParaRPr sz="950" b="0">
              <a:solidFill>
                <a:srgbClr val="7E9EC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795967" y="6437376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0">
                <a:solidFill>
                  <a:srgbClr val="7E9EC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06 / 15</a:t>
            </a:r>
            <a:endParaRPr sz="950" b="0">
              <a:solidFill>
                <a:srgbClr val="7E9EC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66928" y="1627632"/>
          <a:ext cx="11057839" cy="40050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2880360"/>
                <a:gridCol w="6028639"/>
              </a:tblGrid>
              <a:tr h="42062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1">
                          <a:solidFill>
                            <a:srgbClr val="7FE3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主流组件</a:t>
                      </a:r>
                      <a:endParaRPr sz="1100" b="1">
                        <a:solidFill>
                          <a:srgbClr val="7FE3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09728" marR="109728" anchor="ctr">
                    <a:solidFill>
                      <a:srgbClr val="0C2C5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1">
                          <a:solidFill>
                            <a:srgbClr val="7FE3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本项目</a:t>
                      </a:r>
                      <a:endParaRPr sz="1100" b="1">
                        <a:solidFill>
                          <a:srgbClr val="7FE3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09728" marR="109728" anchor="ctr">
                    <a:solidFill>
                      <a:srgbClr val="0C2C5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1">
                          <a:solidFill>
                            <a:srgbClr val="7FE3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省掉的理由</a:t>
                      </a:r>
                      <a:endParaRPr sz="1100" b="1">
                        <a:solidFill>
                          <a:srgbClr val="7FE3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09728" marR="109728" anchor="ctr">
                    <a:solidFill>
                      <a:srgbClr val="0C2C54"/>
                    </a:solidFill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BBD4EC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Prisma ORM</a:t>
                      </a:r>
                      <a:endParaRPr sz="1100" b="0">
                        <a:solidFill>
                          <a:srgbClr val="BBD4EC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09728" marR="109728" anchor="ctr">
                    <a:solidFill>
                      <a:srgbClr val="06183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BBD4EC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Node 内置 node:sqlite</a:t>
                      </a:r>
                      <a:endParaRPr sz="1100" b="0">
                        <a:solidFill>
                          <a:srgbClr val="BBD4EC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09728" marR="109728" anchor="ctr">
                    <a:solidFill>
                      <a:srgbClr val="06183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BBD4EC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Prisma 需要下载与平台绑定的查询引擎二进制，安装被包管理器直接阻断；改用 Node 内置能力后零原生依赖、零构建步骤</a:t>
                      </a:r>
                      <a:endParaRPr sz="1100" b="0">
                        <a:solidFill>
                          <a:srgbClr val="BBD4EC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09728" marR="109728" anchor="ctr">
                    <a:solidFill>
                      <a:srgbClr val="061834"/>
                    </a:solidFill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BBD4EC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MySQL 8</a:t>
                      </a:r>
                      <a:endParaRPr sz="1100" b="0">
                        <a:solidFill>
                          <a:srgbClr val="BBD4EC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09728" marR="109728" anchor="ctr">
                    <a:solidFill>
                      <a:srgbClr val="0922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BBD4EC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SQLite 单文件</a:t>
                      </a:r>
                      <a:r>
                        <a:rPr lang="zh-CN" sz="1100" b="0">
                          <a:solidFill>
                            <a:srgbClr val="BBD4EC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数据</a:t>
                      </a:r>
                      <a:r>
                        <a:rPr sz="1100" b="0">
                          <a:solidFill>
                            <a:srgbClr val="BBD4EC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库</a:t>
                      </a:r>
                      <a:endParaRPr sz="1100" b="0">
                        <a:solidFill>
                          <a:srgbClr val="BBD4EC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09728" marR="109728" anchor="ctr">
                    <a:solidFill>
                      <a:srgbClr val="0922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BBD4EC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数据量是 5000 级病例、3 万级时间节点，单文件库完全够用；拷走一个文件就是完整备份，不需要独立运维</a:t>
                      </a:r>
                      <a:endParaRPr sz="1100" b="0">
                        <a:solidFill>
                          <a:srgbClr val="BBD4EC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09728" marR="109728" anchor="ctr">
                    <a:solidFill>
                      <a:srgbClr val="092244"/>
                    </a:solidFill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BBD4EC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Redis</a:t>
                      </a:r>
                      <a:endParaRPr sz="1100" b="0">
                        <a:solidFill>
                          <a:srgbClr val="BBD4EC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09728" marR="109728" anchor="ctr">
                    <a:solidFill>
                      <a:srgbClr val="06183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BBD4EC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进程内缓存 + 内存事件总线</a:t>
                      </a:r>
                      <a:endParaRPr sz="1100" b="0">
                        <a:solidFill>
                          <a:srgbClr val="BBD4EC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09728" marR="109728" anchor="ctr">
                    <a:solidFill>
                      <a:srgbClr val="06183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BBD4EC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单实例部署，Redis 的四类用途（缓存 / 会话 / 分布式锁 / 跨实例广播）都不成立，反而多出缓存一致性问题</a:t>
                      </a:r>
                      <a:endParaRPr sz="1100" b="0">
                        <a:solidFill>
                          <a:srgbClr val="BBD4EC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09728" marR="109728" anchor="ctr">
                    <a:solidFill>
                      <a:srgbClr val="061834"/>
                    </a:solidFill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BBD4EC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Docker + Nginx</a:t>
                      </a:r>
                      <a:endParaRPr sz="1100" b="0">
                        <a:solidFill>
                          <a:srgbClr val="BBD4EC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09728" marR="109728" anchor="ctr">
                    <a:solidFill>
                      <a:srgbClr val="0922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BBD4EC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零依赖启动器 + Nest 直接托管静态资源</a:t>
                      </a:r>
                      <a:endParaRPr sz="1100" b="0">
                        <a:solidFill>
                          <a:srgbClr val="BBD4EC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09728" marR="109728" anchor="ctr">
                    <a:solidFill>
                      <a:srgbClr val="0922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BBD4EC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交付场景是院内电脑，要求先装 Docker 反而抬高门槛；后端直接托管两个前端，顺带省掉跨域配置</a:t>
                      </a:r>
                      <a:endParaRPr sz="1100" b="0">
                        <a:solidFill>
                          <a:srgbClr val="BBD4EC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09728" marR="109728" anchor="ctr">
                    <a:solidFill>
                      <a:srgbClr val="09224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1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7FE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65760"/>
            <a:ext cx="11057839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>
                <a:solidFill>
                  <a:srgbClr val="5CC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交付内容 / DELIVERABLES</a:t>
            </a:r>
            <a:endParaRPr sz="1150" b="1">
              <a:solidFill>
                <a:srgbClr val="5CC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66928" y="621792"/>
            <a:ext cx="11057839" cy="512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700" b="1">
                <a:solidFill>
                  <a:srgbClr val="ECF7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交付了什么：源码、文档、三种可运行形态</a:t>
            </a:r>
            <a:endParaRPr sz="2700" b="1">
              <a:solidFill>
                <a:srgbClr val="ECF7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66928" y="1115568"/>
            <a:ext cx="11057839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BBD4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拿到之后不需要二次开发即可运行；所有内容已归档到公开仓库，可随时查阅与交接。</a:t>
            </a:r>
            <a:endParaRPr sz="1250" b="0">
              <a:solidFill>
                <a:srgbClr val="BBD4E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66928" y="6437376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7E9EC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医院数据管理平台 · 急救绿道</a:t>
            </a:r>
            <a:endParaRPr sz="950" b="0">
              <a:solidFill>
                <a:srgbClr val="7E9EC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795967" y="6437376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0">
                <a:solidFill>
                  <a:srgbClr val="7E9EC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07 / 15</a:t>
            </a:r>
            <a:endParaRPr sz="950" b="0">
              <a:solidFill>
                <a:srgbClr val="7E9EC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66928" y="1627632"/>
          <a:ext cx="11057839" cy="4334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5120640"/>
                <a:gridCol w="4245559"/>
              </a:tblGrid>
              <a:tr h="402336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1">
                          <a:solidFill>
                            <a:srgbClr val="7FE3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交付项</a:t>
                      </a:r>
                      <a:endParaRPr sz="1100" b="1">
                        <a:solidFill>
                          <a:srgbClr val="7FE3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09728" marR="109728" anchor="ctr">
                    <a:solidFill>
                      <a:srgbClr val="0C2C5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1">
                          <a:solidFill>
                            <a:srgbClr val="7FE3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内容</a:t>
                      </a:r>
                      <a:endParaRPr sz="1100" b="1">
                        <a:solidFill>
                          <a:srgbClr val="7FE3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09728" marR="109728" anchor="ctr">
                    <a:solidFill>
                      <a:srgbClr val="0C2C5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1">
                          <a:solidFill>
                            <a:srgbClr val="7FE3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位置 / 说明</a:t>
                      </a:r>
                      <a:endParaRPr sz="1100" b="1">
                        <a:solidFill>
                          <a:srgbClr val="7FE3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09728" marR="109728" anchor="ctr">
                    <a:solidFill>
                      <a:srgbClr val="0C2C54"/>
                    </a:solidFill>
                  </a:tcPr>
                </a:tc>
              </a:tr>
              <a:tr h="78638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BBD4EC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可运行系统</a:t>
                      </a:r>
                      <a:endParaRPr sz="1050" b="0">
                        <a:solidFill>
                          <a:srgbClr val="BBD4EC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09728" marR="109728" anchor="ctr">
                    <a:solidFill>
                      <a:srgbClr val="06183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BBD4EC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① 本地完整版（大屏 + 后台 + 全部功能）② 公网演示版 ③ 静态大屏演示</a:t>
                      </a:r>
                      <a:endParaRPr sz="1050" b="0">
                        <a:solidFill>
                          <a:srgbClr val="BBD4EC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09728" marR="109728" anchor="ctr">
                    <a:solidFill>
                      <a:srgbClr val="06183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BBD4EC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双击启动即可；公网版已发布可访问</a:t>
                      </a:r>
                      <a:endParaRPr sz="1050" b="0">
                        <a:solidFill>
                          <a:srgbClr val="BBD4EC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09728" marR="109728" anchor="ctr">
                    <a:solidFill>
                      <a:srgbClr val="061834"/>
                    </a:solidFill>
                  </a:tcPr>
                </a:tc>
              </a:tr>
              <a:tr h="78638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BBD4EC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源代码</a:t>
                      </a:r>
                      <a:endParaRPr sz="1050" b="0">
                        <a:solidFill>
                          <a:srgbClr val="BBD4EC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09728" marR="109728" anchor="ctr">
                    <a:solidFill>
                      <a:srgbClr val="0922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BBD4EC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前端 2 个 + 后端 1 个 + 公网版 1 个 + 共享类型包 1 个</a:t>
                      </a:r>
                      <a:endParaRPr sz="1050" b="0">
                        <a:solidFill>
                          <a:srgbClr val="BBD4EC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09728" marR="109728" anchor="ctr">
                    <a:solidFill>
                      <a:srgbClr val="0922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BBD4EC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公开 GitHub 仓库，含完整提交历史</a:t>
                      </a:r>
                      <a:endParaRPr sz="1050" b="0">
                        <a:solidFill>
                          <a:srgbClr val="BBD4EC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09728" marR="109728" anchor="ctr">
                    <a:solidFill>
                      <a:srgbClr val="092244"/>
                    </a:solidFill>
                  </a:tcPr>
                </a:tc>
              </a:tr>
              <a:tr h="78638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BBD4EC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文档</a:t>
                      </a:r>
                      <a:endParaRPr sz="1050" b="0">
                        <a:solidFill>
                          <a:srgbClr val="BBD4EC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09728" marR="109728" anchor="ctr">
                    <a:solidFill>
                      <a:srgbClr val="06183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BBD4EC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总体方案、部署手册（本地 / 云）、3 份架构决策记录、使用说明</a:t>
                      </a:r>
                      <a:endParaRPr sz="1050" b="0">
                        <a:solidFill>
                          <a:srgbClr val="BBD4EC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09728" marR="109728" anchor="ctr">
                    <a:solidFill>
                      <a:srgbClr val="06183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BBD4EC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docs/ 目录，含故障排查与配额说明</a:t>
                      </a:r>
                      <a:endParaRPr sz="1050" b="0">
                        <a:solidFill>
                          <a:srgbClr val="BBD4EC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09728" marR="109728" anchor="ctr">
                    <a:solidFill>
                      <a:srgbClr val="061834"/>
                    </a:solidFill>
                  </a:tcPr>
                </a:tc>
              </a:tr>
              <a:tr h="78638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BBD4EC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自动化验收</a:t>
                      </a:r>
                      <a:endParaRPr sz="1050" b="0">
                        <a:solidFill>
                          <a:srgbClr val="BBD4EC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09728" marR="109728" anchor="ctr">
                    <a:solidFill>
                      <a:srgbClr val="0922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BBD4EC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4 套共 71 项：接口 37 · 大屏 7 · 后台 18 · 公网版 33（另有 8 项批处理检查）</a:t>
                      </a:r>
                      <a:endParaRPr sz="1050" b="0">
                        <a:solidFill>
                          <a:srgbClr val="BBD4EC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09728" marR="109728" anchor="ctr">
                    <a:solidFill>
                      <a:srgbClr val="0922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BBD4EC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一条命令跑完，改坏了立刻知道</a:t>
                      </a:r>
                      <a:endParaRPr sz="1050" b="0">
                        <a:solidFill>
                          <a:srgbClr val="BBD4EC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09728" marR="109728" anchor="ctr">
                    <a:solidFill>
                      <a:srgbClr val="092244"/>
                    </a:solidFill>
                  </a:tcPr>
                </a:tc>
              </a:tr>
              <a:tr h="78638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BBD4EC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演示数据</a:t>
                      </a:r>
                      <a:endParaRPr sz="1050" b="0">
                        <a:solidFill>
                          <a:srgbClr val="BBD4EC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09728" marR="109728" anchor="ctr">
                    <a:solidFill>
                      <a:srgbClr val="06183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BBD4EC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5089 条病例、30689 个时间节点，覆盖 12 个月</a:t>
                      </a:r>
                      <a:endParaRPr sz="1050" b="0">
                        <a:solidFill>
                          <a:srgbClr val="BBD4EC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09728" marR="109728" anchor="ctr">
                    <a:solidFill>
                      <a:srgbClr val="06183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BBD4EC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全部为合成数据，机构名与姓名已脱敏</a:t>
                      </a:r>
                      <a:endParaRPr sz="1050" b="0">
                        <a:solidFill>
                          <a:srgbClr val="BBD4EC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09728" marR="109728" anchor="ctr">
                    <a:solidFill>
                      <a:srgbClr val="06183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1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7FE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65760"/>
            <a:ext cx="11057839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>
                <a:solidFill>
                  <a:srgbClr val="5CC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开箱即跑 / ZERO-SETUP</a:t>
            </a:r>
            <a:endParaRPr sz="1150" b="1">
              <a:solidFill>
                <a:srgbClr val="5CC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66928" y="621792"/>
            <a:ext cx="11057839" cy="512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700" b="1">
                <a:solidFill>
                  <a:srgbClr val="ECF7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打开就能跑：使用者只需要会「双击」</a:t>
            </a:r>
            <a:endParaRPr sz="2700" b="1">
              <a:solidFill>
                <a:srgbClr val="ECF7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66928" y="1115568"/>
            <a:ext cx="11057839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BBD4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从一台什么都没装的电脑，到浏览器里看到大屏，中间不需要任何人做配置。</a:t>
            </a:r>
            <a:endParaRPr sz="1250" b="0">
              <a:solidFill>
                <a:srgbClr val="BBD4E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66928" y="6437376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7E9EC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医院数据管理平台 · 急救绿道</a:t>
            </a:r>
            <a:endParaRPr sz="950" b="0">
              <a:solidFill>
                <a:srgbClr val="7E9EC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795967" y="6437376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0">
                <a:solidFill>
                  <a:srgbClr val="7E9EC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08 / 15</a:t>
            </a:r>
            <a:endParaRPr sz="950" b="0">
              <a:solidFill>
                <a:srgbClr val="7E9EC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566928" y="1700784"/>
            <a:ext cx="2558719" cy="3127248"/>
          </a:xfrm>
          <a:prstGeom prst="roundRect">
            <a:avLst>
              <a:gd name="adj" fmla="val 6000"/>
            </a:avLst>
          </a:prstGeom>
          <a:solidFill>
            <a:srgbClr val="061A38"/>
          </a:solidFill>
          <a:ln w="9525">
            <a:solidFill>
              <a:srgbClr val="1A4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22960" y="1865375"/>
            <a:ext cx="402336" cy="402336"/>
          </a:xfrm>
          <a:prstGeom prst="ellipse">
            <a:avLst/>
          </a:prstGeom>
          <a:solidFill>
            <a:srgbClr val="7FE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200" b="1">
                <a:solidFill>
                  <a:srgbClr val="0209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01</a:t>
            </a:r>
            <a:endParaRPr sz="1200" b="1">
              <a:solidFill>
                <a:srgbClr val="02091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804672" y="2487168"/>
            <a:ext cx="2083231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ECF7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双击启动</a:t>
            </a:r>
            <a:endParaRPr sz="1500" b="1">
              <a:solidFill>
                <a:srgbClr val="ECF7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804672" y="2944368"/>
            <a:ext cx="2083231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050" b="0">
                <a:solidFill>
                  <a:srgbClr val="BBD4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· 运行 启动.bat</a:t>
            </a:r>
            <a:endParaRPr sz="1050" b="0">
              <a:solidFill>
                <a:srgbClr val="BBD4E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050" b="0">
                <a:solidFill>
                  <a:srgbClr val="BBD4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· 自动识别 Node 环境</a:t>
            </a:r>
            <a:endParaRPr sz="1050" b="0">
              <a:solidFill>
                <a:srgbClr val="BBD4E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050" b="0">
                <a:solidFill>
                  <a:srgbClr val="BBD4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· 自动生成包管理器转发脚本</a:t>
            </a:r>
            <a:endParaRPr sz="1050" b="0">
              <a:solidFill>
                <a:srgbClr val="BBD4E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804672" y="4315968"/>
            <a:ext cx="2083231" cy="310896"/>
          </a:xfrm>
          <a:prstGeom prst="roundRect">
            <a:avLst>
              <a:gd name="adj" fmla="val 30000"/>
            </a:avLst>
          </a:prstGeom>
          <a:solidFill>
            <a:srgbClr val="0C2C54"/>
          </a:solidFill>
          <a:ln w="9525">
            <a:solidFill>
              <a:srgbClr val="1A4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" y="4370832"/>
            <a:ext cx="2083231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>
                <a:solidFill>
                  <a:srgbClr val="7FFFE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 秒</a:t>
            </a:r>
            <a:endParaRPr sz="1000" b="1">
              <a:solidFill>
                <a:srgbClr val="7FFFE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3125647" y="3063240"/>
            <a:ext cx="2743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1">
                <a:solidFill>
                  <a:srgbClr val="2A5A8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›</a:t>
            </a:r>
            <a:endParaRPr sz="2000" b="1">
              <a:solidFill>
                <a:srgbClr val="2A5A8E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3399967" y="1700784"/>
            <a:ext cx="2558719" cy="3127248"/>
          </a:xfrm>
          <a:prstGeom prst="roundRect">
            <a:avLst>
              <a:gd name="adj" fmla="val 6000"/>
            </a:avLst>
          </a:prstGeom>
          <a:solidFill>
            <a:srgbClr val="061A38"/>
          </a:solidFill>
          <a:ln w="9525">
            <a:solidFill>
              <a:srgbClr val="1A4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655999" y="1865375"/>
            <a:ext cx="402336" cy="402336"/>
          </a:xfrm>
          <a:prstGeom prst="ellipse">
            <a:avLst/>
          </a:prstGeom>
          <a:solidFill>
            <a:srgbClr val="7FE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200" b="1">
                <a:solidFill>
                  <a:srgbClr val="0209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02</a:t>
            </a:r>
            <a:endParaRPr sz="1200" b="1">
              <a:solidFill>
                <a:srgbClr val="02091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3637711" y="2487168"/>
            <a:ext cx="2083231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ECF7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自动补齐环境</a:t>
            </a:r>
            <a:endParaRPr sz="1500" b="1">
              <a:solidFill>
                <a:srgbClr val="ECF7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3637711" y="2944368"/>
            <a:ext cx="2083231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050" b="0">
                <a:solidFill>
                  <a:srgbClr val="BBD4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· 缺依赖就安装</a:t>
            </a:r>
            <a:endParaRPr sz="1050" b="0">
              <a:solidFill>
                <a:srgbClr val="BBD4E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050" b="0">
                <a:solidFill>
                  <a:srgbClr val="BBD4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· 缺构建产物就构建</a:t>
            </a:r>
            <a:endParaRPr sz="1050" b="0">
              <a:solidFill>
                <a:srgbClr val="BBD4E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050" b="0">
                <a:solidFill>
                  <a:srgbClr val="BBD4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· 全程无需人工介入</a:t>
            </a:r>
            <a:endParaRPr sz="1050" b="0">
              <a:solidFill>
                <a:srgbClr val="BBD4E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0" name="Rounded Rectangle 19"/>
          <p:cNvSpPr/>
          <p:nvPr/>
        </p:nvSpPr>
        <p:spPr>
          <a:xfrm>
            <a:off x="3637711" y="4315968"/>
            <a:ext cx="2083231" cy="310896"/>
          </a:xfrm>
          <a:prstGeom prst="roundRect">
            <a:avLst>
              <a:gd name="adj" fmla="val 30000"/>
            </a:avLst>
          </a:prstGeom>
          <a:solidFill>
            <a:srgbClr val="0C2C54"/>
          </a:solidFill>
          <a:ln w="9525">
            <a:solidFill>
              <a:srgbClr val="1A4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37711" y="4370832"/>
            <a:ext cx="2083231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>
                <a:solidFill>
                  <a:srgbClr val="7FFFE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约 20 秒</a:t>
            </a:r>
            <a:endParaRPr sz="1000" b="1">
              <a:solidFill>
                <a:srgbClr val="7FFFE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5958687" y="3063240"/>
            <a:ext cx="2743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1">
                <a:solidFill>
                  <a:srgbClr val="2A5A8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›</a:t>
            </a:r>
            <a:endParaRPr sz="2000" b="1">
              <a:solidFill>
                <a:srgbClr val="2A5A8E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3" name="Rounded Rectangle 22"/>
          <p:cNvSpPr/>
          <p:nvPr/>
        </p:nvSpPr>
        <p:spPr>
          <a:xfrm>
            <a:off x="6233007" y="1700784"/>
            <a:ext cx="2558719" cy="3127248"/>
          </a:xfrm>
          <a:prstGeom prst="roundRect">
            <a:avLst>
              <a:gd name="adj" fmla="val 6000"/>
            </a:avLst>
          </a:prstGeom>
          <a:solidFill>
            <a:srgbClr val="061A38"/>
          </a:solidFill>
          <a:ln w="9525">
            <a:solidFill>
              <a:srgbClr val="1A4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9039" y="1865375"/>
            <a:ext cx="402336" cy="402336"/>
          </a:xfrm>
          <a:prstGeom prst="ellipse">
            <a:avLst/>
          </a:prstGeom>
          <a:solidFill>
            <a:srgbClr val="7FE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200" b="1">
                <a:solidFill>
                  <a:srgbClr val="0209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03</a:t>
            </a:r>
            <a:endParaRPr sz="1200" b="1">
              <a:solidFill>
                <a:srgbClr val="02091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6470751" y="2487168"/>
            <a:ext cx="2083231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ECF7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自动准备数据</a:t>
            </a:r>
            <a:endParaRPr sz="1500" b="1">
              <a:solidFill>
                <a:srgbClr val="ECF7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6470751" y="2944368"/>
            <a:ext cx="2083231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050" b="0">
                <a:solidFill>
                  <a:srgbClr val="BBD4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· 建表 → 灌入演示数据</a:t>
            </a:r>
            <a:endParaRPr sz="1050" b="0">
              <a:solidFill>
                <a:srgbClr val="BBD4E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050" b="0">
                <a:solidFill>
                  <a:srgbClr val="BBD4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· 数据过期会按当天自动重算</a:t>
            </a:r>
            <a:endParaRPr sz="1050" b="0">
              <a:solidFill>
                <a:srgbClr val="BBD4E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050" b="0">
                <a:solidFill>
                  <a:srgbClr val="BBD4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· 保证大屏不出现空表格</a:t>
            </a:r>
            <a:endParaRPr sz="1050" b="0">
              <a:solidFill>
                <a:srgbClr val="BBD4E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7" name="Rounded Rectangle 26"/>
          <p:cNvSpPr/>
          <p:nvPr/>
        </p:nvSpPr>
        <p:spPr>
          <a:xfrm>
            <a:off x="6470751" y="4315968"/>
            <a:ext cx="2083231" cy="310896"/>
          </a:xfrm>
          <a:prstGeom prst="roundRect">
            <a:avLst>
              <a:gd name="adj" fmla="val 30000"/>
            </a:avLst>
          </a:prstGeom>
          <a:solidFill>
            <a:srgbClr val="0C2C54"/>
          </a:solidFill>
          <a:ln w="9525">
            <a:solidFill>
              <a:srgbClr val="1A4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70751" y="4370832"/>
            <a:ext cx="2083231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>
                <a:solidFill>
                  <a:srgbClr val="7FFFE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约 1 秒</a:t>
            </a:r>
            <a:endParaRPr sz="1000" b="1">
              <a:solidFill>
                <a:srgbClr val="7FFFE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8791727" y="3063240"/>
            <a:ext cx="2743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1">
                <a:solidFill>
                  <a:srgbClr val="2A5A8E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›</a:t>
            </a:r>
            <a:endParaRPr sz="2000" b="1">
              <a:solidFill>
                <a:srgbClr val="2A5A8E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0" name="Rounded Rectangle 29"/>
          <p:cNvSpPr/>
          <p:nvPr/>
        </p:nvSpPr>
        <p:spPr>
          <a:xfrm>
            <a:off x="9066047" y="1700784"/>
            <a:ext cx="2558719" cy="3127248"/>
          </a:xfrm>
          <a:prstGeom prst="roundRect">
            <a:avLst>
              <a:gd name="adj" fmla="val 6000"/>
            </a:avLst>
          </a:prstGeom>
          <a:solidFill>
            <a:srgbClr val="061A38"/>
          </a:solidFill>
          <a:ln w="9525">
            <a:solidFill>
              <a:srgbClr val="1A4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9322079" y="1865375"/>
            <a:ext cx="402336" cy="402336"/>
          </a:xfrm>
          <a:prstGeom prst="ellipse">
            <a:avLst/>
          </a:prstGeom>
          <a:solidFill>
            <a:srgbClr val="7FE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200" b="1">
                <a:solidFill>
                  <a:srgbClr val="02091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04</a:t>
            </a:r>
            <a:endParaRPr sz="1200" b="1">
              <a:solidFill>
                <a:srgbClr val="02091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9303791" y="2487168"/>
            <a:ext cx="2083231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ECF7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自动打开浏览器</a:t>
            </a:r>
            <a:endParaRPr sz="1500" b="1">
              <a:solidFill>
                <a:srgbClr val="ECF7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9303791" y="2944368"/>
            <a:ext cx="2083231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050" b="0">
                <a:solidFill>
                  <a:srgbClr val="BBD4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· 启动服务并给出访问入口</a:t>
            </a:r>
            <a:endParaRPr sz="1050" b="0">
              <a:solidFill>
                <a:srgbClr val="BBD4E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050" b="0">
                <a:solidFill>
                  <a:srgbClr val="BBD4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· 后台 / 大屏 / 导航页三个地址</a:t>
            </a:r>
            <a:endParaRPr sz="1050" b="0">
              <a:solidFill>
                <a:srgbClr val="BBD4E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050" b="0">
                <a:solidFill>
                  <a:srgbClr val="BBD4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· 端口被占用时直接复用</a:t>
            </a:r>
            <a:endParaRPr sz="1050" b="0">
              <a:solidFill>
                <a:srgbClr val="BBD4E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4" name="Rounded Rectangle 33"/>
          <p:cNvSpPr/>
          <p:nvPr/>
        </p:nvSpPr>
        <p:spPr>
          <a:xfrm>
            <a:off x="9303791" y="4315968"/>
            <a:ext cx="2083231" cy="310896"/>
          </a:xfrm>
          <a:prstGeom prst="roundRect">
            <a:avLst>
              <a:gd name="adj" fmla="val 30000"/>
            </a:avLst>
          </a:prstGeom>
          <a:solidFill>
            <a:srgbClr val="0C2C54"/>
          </a:solidFill>
          <a:ln w="9525">
            <a:solidFill>
              <a:srgbClr val="1A4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303791" y="4370832"/>
            <a:ext cx="2083231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>
                <a:solidFill>
                  <a:srgbClr val="7FFFE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约 2 秒</a:t>
            </a:r>
            <a:endParaRPr sz="1000" b="1">
              <a:solidFill>
                <a:srgbClr val="7FFFE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6" name="Rounded Rectangle 35"/>
          <p:cNvSpPr/>
          <p:nvPr/>
        </p:nvSpPr>
        <p:spPr>
          <a:xfrm>
            <a:off x="566928" y="5084064"/>
            <a:ext cx="11057839" cy="658368"/>
          </a:xfrm>
          <a:prstGeom prst="roundRect">
            <a:avLst>
              <a:gd name="adj" fmla="val 10000"/>
            </a:avLst>
          </a:prstGeom>
          <a:solidFill>
            <a:srgbClr val="061A38"/>
          </a:solidFill>
          <a:ln w="9525">
            <a:solidFill>
              <a:srgbClr val="1A4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59536" y="5266944"/>
            <a:ext cx="10472623" cy="34747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>
                <a:solidFill>
                  <a:srgbClr val="5CC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实测：</a:t>
            </a:r>
            <a:r>
              <a:rPr sz="1250" b="0">
                <a:solidFill>
                  <a:srgbClr val="BBD4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在完全干净的机器上（无依赖、无数据库、无构建产物），从双击到浏览器打开大屏，</a:t>
            </a:r>
            <a:r>
              <a:rPr sz="1250" b="1">
                <a:solidFill>
                  <a:srgbClr val="7FFFE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30 秒内完成</a:t>
            </a:r>
            <a:r>
              <a:rPr sz="1250" b="0">
                <a:solidFill>
                  <a:srgbClr val="BBD4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；连包管理器都不需要预先安装。</a:t>
            </a:r>
            <a:endParaRPr sz="1250" b="0">
              <a:solidFill>
                <a:srgbClr val="BBD4E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1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7FE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65760"/>
            <a:ext cx="11057839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>
                <a:solidFill>
                  <a:srgbClr val="5CC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开箱即跑 / ZERO-SETUP</a:t>
            </a:r>
            <a:endParaRPr sz="1150" b="1">
              <a:solidFill>
                <a:srgbClr val="5CC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66928" y="621792"/>
            <a:ext cx="11057839" cy="512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700" b="1">
                <a:solidFill>
                  <a:srgbClr val="ECF7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打开就能跑：出了问题也不会「打不开」</a:t>
            </a:r>
            <a:endParaRPr sz="2700" b="1">
              <a:solidFill>
                <a:srgbClr val="ECF7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66928" y="1115568"/>
            <a:ext cx="11057839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BBD4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这一节来自一次真实故障——服务跑在前台窗口里，有人想复制窗口里的文字按了 Ctrl+C，把服务关掉了。</a:t>
            </a:r>
            <a:endParaRPr sz="1250" b="0">
              <a:solidFill>
                <a:srgbClr val="BBD4E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66928" y="6437376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7E9EC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医院数据管理平台 · 急救绿道</a:t>
            </a:r>
            <a:endParaRPr sz="950" b="0">
              <a:solidFill>
                <a:srgbClr val="7E9EC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795967" y="6437376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0">
                <a:solidFill>
                  <a:srgbClr val="7E9EC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09 / 15</a:t>
            </a:r>
            <a:endParaRPr sz="950" b="0">
              <a:solidFill>
                <a:srgbClr val="7E9EC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566928" y="1700784"/>
            <a:ext cx="2558719" cy="2670048"/>
          </a:xfrm>
          <a:prstGeom prst="roundRect">
            <a:avLst>
              <a:gd name="adj" fmla="val 6000"/>
            </a:avLst>
          </a:prstGeom>
          <a:solidFill>
            <a:srgbClr val="061A38"/>
          </a:solidFill>
          <a:ln w="9525">
            <a:solidFill>
              <a:srgbClr val="1A4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66928" y="1700784"/>
            <a:ext cx="2558719" cy="68580"/>
          </a:xfrm>
          <a:prstGeom prst="roundRect">
            <a:avLst>
              <a:gd name="adj" fmla="val 50000"/>
            </a:avLst>
          </a:prstGeom>
          <a:solidFill>
            <a:srgbClr val="7FE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1938528"/>
            <a:ext cx="2083231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ECF7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没有窗口</a:t>
            </a:r>
            <a:endParaRPr sz="1500" b="1">
              <a:solidFill>
                <a:srgbClr val="ECF7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804672" y="2395728"/>
            <a:ext cx="2083231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050" b="0">
                <a:solidFill>
                  <a:srgbClr val="BBD4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· 服务在后台运行，不占用控制台</a:t>
            </a:r>
            <a:endParaRPr sz="1050" b="0">
              <a:solidFill>
                <a:srgbClr val="BBD4E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050" b="0">
                <a:solidFill>
                  <a:srgbClr val="BBD4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· Ctrl+C、误关窗口都影响不到它</a:t>
            </a:r>
            <a:endParaRPr sz="1050" b="0">
              <a:solidFill>
                <a:srgbClr val="BBD4E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050" b="0">
                <a:solidFill>
                  <a:srgbClr val="BBD4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· 从根上消除这类事故</a:t>
            </a:r>
            <a:endParaRPr sz="1050" b="0">
              <a:solidFill>
                <a:srgbClr val="BBD4E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3399967" y="1700784"/>
            <a:ext cx="2558719" cy="2670048"/>
          </a:xfrm>
          <a:prstGeom prst="roundRect">
            <a:avLst>
              <a:gd name="adj" fmla="val 6000"/>
            </a:avLst>
          </a:prstGeom>
          <a:solidFill>
            <a:srgbClr val="061A38"/>
          </a:solidFill>
          <a:ln w="9525">
            <a:solidFill>
              <a:srgbClr val="1A4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399967" y="1700784"/>
            <a:ext cx="2558719" cy="68580"/>
          </a:xfrm>
          <a:prstGeom prst="roundRect">
            <a:avLst>
              <a:gd name="adj" fmla="val 50000"/>
            </a:avLst>
          </a:prstGeom>
          <a:solidFill>
            <a:srgbClr val="5CC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37711" y="1938528"/>
            <a:ext cx="2083231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ECF7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崩了自动拉起</a:t>
            </a:r>
            <a:endParaRPr sz="1500" b="1">
              <a:solidFill>
                <a:srgbClr val="ECF7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3637711" y="2395728"/>
            <a:ext cx="2083231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050" b="0">
                <a:solidFill>
                  <a:srgbClr val="BBD4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· 进程退出后 3 秒内自动重启</a:t>
            </a:r>
            <a:endParaRPr sz="1050" b="0">
              <a:solidFill>
                <a:srgbClr val="BBD4E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050" b="0">
                <a:solidFill>
                  <a:srgbClr val="BBD4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· 同时保证只有一个实例</a:t>
            </a:r>
            <a:endParaRPr sz="1050" b="0">
              <a:solidFill>
                <a:srgbClr val="BBD4E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050" b="0">
                <a:solidFill>
                  <a:srgbClr val="BBD4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· 不会出现端口冲突</a:t>
            </a:r>
            <a:endParaRPr sz="1050" b="0">
              <a:solidFill>
                <a:srgbClr val="BBD4E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6233007" y="1700784"/>
            <a:ext cx="2558719" cy="2670048"/>
          </a:xfrm>
          <a:prstGeom prst="roundRect">
            <a:avLst>
              <a:gd name="adj" fmla="val 6000"/>
            </a:avLst>
          </a:prstGeom>
          <a:solidFill>
            <a:srgbClr val="061A38"/>
          </a:solidFill>
          <a:ln w="9525">
            <a:solidFill>
              <a:srgbClr val="1A4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233007" y="1700784"/>
            <a:ext cx="2558719" cy="68580"/>
          </a:xfrm>
          <a:prstGeom prst="roundRect">
            <a:avLst>
              <a:gd name="adj" fmla="val 50000"/>
            </a:avLst>
          </a:prstGeom>
          <a:solidFill>
            <a:srgbClr val="7FE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70751" y="1938528"/>
            <a:ext cx="2083231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ECF7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开机自动运行</a:t>
            </a:r>
            <a:endParaRPr sz="1500" b="1">
              <a:solidFill>
                <a:srgbClr val="ECF7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470751" y="2395728"/>
            <a:ext cx="2083231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050" b="0">
                <a:solidFill>
                  <a:srgbClr val="BBD4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· 登录 Windows 后自动启动</a:t>
            </a:r>
            <a:endParaRPr sz="1050" b="0">
              <a:solidFill>
                <a:srgbClr val="BBD4E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050" b="0">
                <a:solidFill>
                  <a:srgbClr val="BBD4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· 大屏终端断电恢复即可用</a:t>
            </a:r>
            <a:endParaRPr sz="1050" b="0">
              <a:solidFill>
                <a:srgbClr val="BBD4E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050" b="0">
                <a:solidFill>
                  <a:srgbClr val="BBD4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· 不需要专人去点一下</a:t>
            </a:r>
            <a:endParaRPr sz="1050" b="0">
              <a:solidFill>
                <a:srgbClr val="BBD4E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1" name="Rounded Rectangle 20"/>
          <p:cNvSpPr/>
          <p:nvPr/>
        </p:nvSpPr>
        <p:spPr>
          <a:xfrm>
            <a:off x="9066047" y="1700784"/>
            <a:ext cx="2558719" cy="2670048"/>
          </a:xfrm>
          <a:prstGeom prst="roundRect">
            <a:avLst>
              <a:gd name="adj" fmla="val 6000"/>
            </a:avLst>
          </a:prstGeom>
          <a:solidFill>
            <a:srgbClr val="061A38"/>
          </a:solidFill>
          <a:ln w="9525">
            <a:solidFill>
              <a:srgbClr val="1A4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066047" y="1700784"/>
            <a:ext cx="2558719" cy="68580"/>
          </a:xfrm>
          <a:prstGeom prst="roundRect">
            <a:avLst>
              <a:gd name="adj" fmla="val 50000"/>
            </a:avLst>
          </a:prstGeom>
          <a:solidFill>
            <a:srgbClr val="5CC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03791" y="1938528"/>
            <a:ext cx="2083231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ECF7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数据自动保鲜</a:t>
            </a:r>
            <a:endParaRPr sz="1500" b="1">
              <a:solidFill>
                <a:srgbClr val="ECF7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9303791" y="2395728"/>
            <a:ext cx="2083231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050" b="0">
                <a:solidFill>
                  <a:srgbClr val="BBD4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· 演示数据锚定生成日期</a:t>
            </a:r>
            <a:endParaRPr sz="1050" b="0">
              <a:solidFill>
                <a:srgbClr val="BBD4E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050" b="0">
                <a:solidFill>
                  <a:srgbClr val="BBD4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· 隔几天再开，24 小时表格会空</a:t>
            </a:r>
            <a:endParaRPr sz="1050" b="0">
              <a:solidFill>
                <a:srgbClr val="BBD4E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050" b="0">
                <a:solidFill>
                  <a:srgbClr val="BBD4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· 启动时自动按当天重算</a:t>
            </a:r>
            <a:endParaRPr sz="1050" b="0">
              <a:solidFill>
                <a:srgbClr val="BBD4E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5" name="Rounded Rectangle 24"/>
          <p:cNvSpPr/>
          <p:nvPr/>
        </p:nvSpPr>
        <p:spPr>
          <a:xfrm>
            <a:off x="566928" y="4626864"/>
            <a:ext cx="11057839" cy="1115568"/>
          </a:xfrm>
          <a:prstGeom prst="roundRect">
            <a:avLst>
              <a:gd name="adj" fmla="val 10000"/>
            </a:avLst>
          </a:prstGeom>
          <a:solidFill>
            <a:srgbClr val="061A38"/>
          </a:solidFill>
          <a:ln w="9525">
            <a:solidFill>
              <a:srgbClr val="1A4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9536" y="4773168"/>
            <a:ext cx="10472623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1">
                <a:solidFill>
                  <a:srgbClr val="5CC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怎么验证的：</a:t>
            </a:r>
            <a:r>
              <a:rPr sz="1200" b="0">
                <a:solidFill>
                  <a:srgbClr val="BBD4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直接在运行中强杀服务进程，观察它是否自己回来 —— 实测</a:t>
            </a:r>
            <a:r>
              <a:rPr sz="1200" b="1">
                <a:solidFill>
                  <a:srgbClr val="7FFFE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12 秒内自动恢复，接口重新可用</a:t>
            </a:r>
            <a:r>
              <a:rPr sz="1200" b="0">
                <a:solidFill>
                  <a:srgbClr val="BBD4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。</a:t>
            </a:r>
            <a:endParaRPr sz="1200" b="0">
              <a:solidFill>
                <a:srgbClr val="BBD4E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</a:pPr>
            <a:r>
              <a:rPr sz="1200" b="1">
                <a:solidFill>
                  <a:srgbClr val="5CC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同时补了一条保障：</a:t>
            </a:r>
            <a:r>
              <a:rPr sz="1200" b="0">
                <a:solidFill>
                  <a:srgbClr val="BBD4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启动时检查演示数据是否过期，过期就按当天重算，避免「打开是空的」被误判为系统故障。</a:t>
            </a:r>
            <a:endParaRPr sz="1200" b="0">
              <a:solidFill>
                <a:srgbClr val="BBD4E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1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7FE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65760"/>
            <a:ext cx="11057839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>
                <a:solidFill>
                  <a:srgbClr val="5CC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方案选择 / RATIONALE</a:t>
            </a:r>
            <a:endParaRPr sz="1150" b="1">
              <a:solidFill>
                <a:srgbClr val="5CC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66928" y="621792"/>
            <a:ext cx="11057839" cy="512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700" b="1">
                <a:solidFill>
                  <a:srgbClr val="ECF7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为什么这样选：一条成本规律</a:t>
            </a:r>
            <a:endParaRPr sz="2700" b="1">
              <a:solidFill>
                <a:srgbClr val="ECF7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66928" y="1115568"/>
            <a:ext cx="11057839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BBD4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技术选型不是「用得越多越专业」，而是看每个组件要谁来维护。</a:t>
            </a:r>
            <a:endParaRPr sz="1250" b="0">
              <a:solidFill>
                <a:srgbClr val="BBD4E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66928" y="6437376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7E9EC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医院数据管理平台 · 急救绿道</a:t>
            </a:r>
            <a:endParaRPr sz="950" b="0">
              <a:solidFill>
                <a:srgbClr val="7E9EC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795967" y="6437376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0">
                <a:solidFill>
                  <a:srgbClr val="7E9EC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10 / 15</a:t>
            </a:r>
            <a:endParaRPr sz="950" b="0">
              <a:solidFill>
                <a:srgbClr val="7E9EC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566928" y="1609344"/>
            <a:ext cx="11057839" cy="1188720"/>
          </a:xfrm>
          <a:prstGeom prst="roundRect">
            <a:avLst>
              <a:gd name="adj" fmla="val 8000"/>
            </a:avLst>
          </a:prstGeom>
          <a:solidFill>
            <a:srgbClr val="08224A"/>
          </a:solidFill>
          <a:ln w="9525">
            <a:solidFill>
              <a:srgbClr val="1A4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2688" y="1810512"/>
            <a:ext cx="4980279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5CC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前端组件</a:t>
            </a:r>
            <a:endParaRPr sz="1200" b="1">
              <a:solidFill>
                <a:srgbClr val="5CC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spcAft>
                <a:spcPts val="200"/>
              </a:spcAft>
            </a:pPr>
            <a:r>
              <a:rPr sz="2400" b="1">
                <a:solidFill>
                  <a:srgbClr val="7FE3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边际成本 ≈ 0</a:t>
            </a:r>
            <a:endParaRPr sz="2400" b="1">
              <a:solidFill>
                <a:srgbClr val="7FE3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/>
            <a:r>
              <a:rPr sz="1100" b="0">
                <a:solidFill>
                  <a:srgbClr val="BBD4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跑在用户浏览器里，不需要有人运维它</a:t>
            </a:r>
            <a:endParaRPr sz="1100" b="0">
              <a:solidFill>
                <a:srgbClr val="BBD4E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6278727" y="1810512"/>
            <a:ext cx="4980279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FC24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后端组件</a:t>
            </a:r>
            <a:endParaRPr sz="1200" b="1">
              <a:solidFill>
                <a:srgbClr val="FFC24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spcAft>
                <a:spcPts val="200"/>
              </a:spcAft>
            </a:pPr>
            <a:r>
              <a:rPr sz="2400" b="1">
                <a:solidFill>
                  <a:srgbClr val="FFC24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边际成本 = 一个进程</a:t>
            </a:r>
            <a:endParaRPr sz="2400" b="1">
              <a:solidFill>
                <a:srgbClr val="FFC24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/>
            <a:r>
              <a:rPr sz="1100" b="0">
                <a:solidFill>
                  <a:srgbClr val="BBD4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每个都要部署、监控、备份、升级、排障</a:t>
            </a:r>
            <a:endParaRPr sz="1100" b="0">
              <a:solidFill>
                <a:srgbClr val="BBD4E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566928" y="2980944"/>
            <a:ext cx="5437479" cy="2606040"/>
          </a:xfrm>
          <a:prstGeom prst="roundRect">
            <a:avLst>
              <a:gd name="adj" fmla="val 6000"/>
            </a:avLst>
          </a:prstGeom>
          <a:solidFill>
            <a:srgbClr val="061A38"/>
          </a:solidFill>
          <a:ln w="9525">
            <a:solidFill>
              <a:srgbClr val="1A4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66928" y="2980944"/>
            <a:ext cx="5437479" cy="68580"/>
          </a:xfrm>
          <a:prstGeom prst="roundRect">
            <a:avLst>
              <a:gd name="adj" fmla="val 50000"/>
            </a:avLst>
          </a:prstGeom>
          <a:solidFill>
            <a:srgbClr val="5CC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7" y="3218688"/>
            <a:ext cx="4888839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>
                <a:solidFill>
                  <a:srgbClr val="ECF7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所以前端照搬主流</a:t>
            </a:r>
            <a:endParaRPr sz="1600" b="1">
              <a:solidFill>
                <a:srgbClr val="ECF7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841247" y="3675887"/>
            <a:ext cx="4888839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900"/>
              </a:spcAft>
            </a:pPr>
            <a:r>
              <a:rPr sz="1150" b="0">
                <a:solidFill>
                  <a:srgbClr val="BBD4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· 成熟组合经过大量项目验证，没必要自创</a:t>
            </a:r>
            <a:endParaRPr sz="1150" b="0">
              <a:solidFill>
                <a:srgbClr val="BBD4E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2000"/>
              </a:lnSpc>
              <a:spcAft>
                <a:spcPts val="900"/>
              </a:spcAft>
            </a:pPr>
            <a:r>
              <a:rPr sz="1150" b="0">
                <a:solidFill>
                  <a:srgbClr val="BBD4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· 成本由浏览器承担，功能越全越好</a:t>
            </a:r>
            <a:endParaRPr sz="1150" b="0">
              <a:solidFill>
                <a:srgbClr val="BBD4E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2000"/>
              </a:lnSpc>
              <a:spcAft>
                <a:spcPts val="900"/>
              </a:spcAft>
            </a:pPr>
            <a:r>
              <a:rPr sz="1150" b="0">
                <a:solidFill>
                  <a:srgbClr val="BBD4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· 生态厚、招人容易、接手快</a:t>
            </a:r>
            <a:endParaRPr sz="1150" b="0">
              <a:solidFill>
                <a:srgbClr val="BBD4E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2000"/>
              </a:lnSpc>
              <a:spcAft>
                <a:spcPts val="900"/>
              </a:spcAft>
            </a:pPr>
            <a:r>
              <a:rPr sz="1150" b="0">
                <a:solidFill>
                  <a:srgbClr val="BBD4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· 结论：Vue3 + TS + Element Plus + ECharts 直接采用</a:t>
            </a:r>
            <a:endParaRPr sz="1150" b="0">
              <a:solidFill>
                <a:srgbClr val="BBD4E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6187287" y="2980944"/>
            <a:ext cx="5437479" cy="2606040"/>
          </a:xfrm>
          <a:prstGeom prst="roundRect">
            <a:avLst>
              <a:gd name="adj" fmla="val 6000"/>
            </a:avLst>
          </a:prstGeom>
          <a:solidFill>
            <a:srgbClr val="061A38"/>
          </a:solidFill>
          <a:ln w="9525">
            <a:solidFill>
              <a:srgbClr val="1A4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187287" y="2980944"/>
            <a:ext cx="5437479" cy="68580"/>
          </a:xfrm>
          <a:prstGeom prst="roundRect">
            <a:avLst>
              <a:gd name="adj" fmla="val 50000"/>
            </a:avLst>
          </a:prstGeom>
          <a:solidFill>
            <a:srgbClr val="FFC2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61607" y="3218688"/>
            <a:ext cx="4888839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>
                <a:solidFill>
                  <a:srgbClr val="ECF7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所以后端按需精简</a:t>
            </a:r>
            <a:endParaRPr sz="1600" b="1">
              <a:solidFill>
                <a:srgbClr val="ECF7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6461607" y="3675887"/>
            <a:ext cx="4888839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900"/>
              </a:spcAft>
            </a:pPr>
            <a:r>
              <a:rPr sz="1150" b="0">
                <a:solidFill>
                  <a:srgbClr val="BBD4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· 每多一个组件，就多一份长期维护责任</a:t>
            </a:r>
            <a:endParaRPr sz="1150" b="0">
              <a:solidFill>
                <a:srgbClr val="BBD4E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2000"/>
              </a:lnSpc>
              <a:spcAft>
                <a:spcPts val="900"/>
              </a:spcAft>
            </a:pPr>
            <a:r>
              <a:rPr sz="1150" b="0">
                <a:solidFill>
                  <a:srgbClr val="BBD4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· 院内单机场景下，这些组件的价值不成立</a:t>
            </a:r>
            <a:endParaRPr sz="1150" b="0">
              <a:solidFill>
                <a:srgbClr val="BBD4E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2000"/>
              </a:lnSpc>
              <a:spcAft>
                <a:spcPts val="900"/>
              </a:spcAft>
            </a:pPr>
            <a:r>
              <a:rPr sz="1150" b="0">
                <a:solidFill>
                  <a:srgbClr val="BBD4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· 省下来的不是钱，是「以后要人伺候」的风险</a:t>
            </a:r>
            <a:endParaRPr sz="1150" b="0">
              <a:solidFill>
                <a:srgbClr val="BBD4E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2000"/>
              </a:lnSpc>
              <a:spcAft>
                <a:spcPts val="900"/>
              </a:spcAft>
            </a:pPr>
            <a:r>
              <a:rPr sz="1150" b="0">
                <a:solidFill>
                  <a:srgbClr val="BBD4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· 结论：只保留 NestJS + 内置 SQLite</a:t>
            </a:r>
            <a:endParaRPr sz="1150" b="0">
              <a:solidFill>
                <a:srgbClr val="BBD4E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1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7FE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65760"/>
            <a:ext cx="11057839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>
                <a:solidFill>
                  <a:srgbClr val="5CC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方案选择 / RATIONALE</a:t>
            </a:r>
            <a:endParaRPr sz="1150" b="1">
              <a:solidFill>
                <a:srgbClr val="5CC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66928" y="621792"/>
            <a:ext cx="11057839" cy="512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700" b="1">
                <a:solidFill>
                  <a:srgbClr val="ECF7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和主流「全套」方案对照：我们用了它的哪个子集</a:t>
            </a:r>
            <a:endParaRPr sz="2700" b="1">
              <a:solidFill>
                <a:srgbClr val="ECF7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66928" y="1115568"/>
            <a:ext cx="11057839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BBD4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同一张表横向看：前端一字未改，取舍全部发生在后端与交付层。</a:t>
            </a:r>
            <a:endParaRPr sz="1250" b="0">
              <a:solidFill>
                <a:srgbClr val="BBD4E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66928" y="6437376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7E9EC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医院数据管理平台 · 急救绿道</a:t>
            </a:r>
            <a:endParaRPr sz="950" b="0">
              <a:solidFill>
                <a:srgbClr val="7E9EC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795967" y="6437376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0">
                <a:solidFill>
                  <a:srgbClr val="7E9EC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11 / 15</a:t>
            </a:r>
            <a:endParaRPr sz="950" b="0">
              <a:solidFill>
                <a:srgbClr val="7E9EC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66928" y="1627632"/>
          <a:ext cx="11057839" cy="43525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40"/>
                <a:gridCol w="3200400"/>
                <a:gridCol w="2788920"/>
                <a:gridCol w="3834079"/>
              </a:tblGrid>
              <a:tr h="402336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1">
                          <a:solidFill>
                            <a:srgbClr val="7FE3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层</a:t>
                      </a:r>
                      <a:endParaRPr sz="1100" b="1">
                        <a:solidFill>
                          <a:srgbClr val="7FE3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09728" marR="109728" anchor="ctr">
                    <a:solidFill>
                      <a:srgbClr val="0C2C5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1">
                          <a:solidFill>
                            <a:srgbClr val="7FE3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主流标配</a:t>
                      </a:r>
                      <a:endParaRPr sz="1100" b="1">
                        <a:solidFill>
                          <a:srgbClr val="7FE3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09728" marR="109728" anchor="ctr">
                    <a:solidFill>
                      <a:srgbClr val="0C2C5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1">
                          <a:solidFill>
                            <a:srgbClr val="7FE3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本项目</a:t>
                      </a:r>
                      <a:endParaRPr sz="1100" b="1">
                        <a:solidFill>
                          <a:srgbClr val="7FE3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09728" marR="109728" anchor="ctr">
                    <a:solidFill>
                      <a:srgbClr val="0C2C5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1">
                          <a:solidFill>
                            <a:srgbClr val="7FE3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取舍理由</a:t>
                      </a:r>
                      <a:endParaRPr sz="1100" b="1">
                        <a:solidFill>
                          <a:srgbClr val="7FE3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09728" marR="109728" anchor="ctr">
                    <a:solidFill>
                      <a:srgbClr val="0C2C54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BBD4EC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前端</a:t>
                      </a:r>
                      <a:endParaRPr sz="1050" b="0">
                        <a:solidFill>
                          <a:srgbClr val="BBD4EC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09728" marR="109728" anchor="ctr">
                    <a:solidFill>
                      <a:srgbClr val="06183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BBD4EC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Vue3 + TS + Element Plus + ECharts</a:t>
                      </a:r>
                      <a:endParaRPr sz="1050" b="0">
                        <a:solidFill>
                          <a:srgbClr val="BBD4EC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09728" marR="109728" anchor="ctr">
                    <a:solidFill>
                      <a:srgbClr val="06183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BBD4EC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完全相同</a:t>
                      </a:r>
                      <a:endParaRPr sz="1050" b="0">
                        <a:solidFill>
                          <a:srgbClr val="BBD4EC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09728" marR="109728" anchor="ctr">
                    <a:solidFill>
                      <a:srgbClr val="06183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BBD4EC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成本由浏览器承担，没有必要改</a:t>
                      </a:r>
                      <a:endParaRPr sz="1050" b="0">
                        <a:solidFill>
                          <a:srgbClr val="BBD4EC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09728" marR="109728" anchor="ctr">
                    <a:solidFill>
                      <a:srgbClr val="061834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BBD4EC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框架</a:t>
                      </a:r>
                      <a:endParaRPr sz="1050" b="0">
                        <a:solidFill>
                          <a:srgbClr val="BBD4EC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09728" marR="109728" anchor="ctr">
                    <a:solidFill>
                      <a:srgbClr val="0922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BBD4EC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NestJS</a:t>
                      </a:r>
                      <a:endParaRPr sz="1050" b="0">
                        <a:solidFill>
                          <a:srgbClr val="BBD4EC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09728" marR="109728" anchor="ctr">
                    <a:solidFill>
                      <a:srgbClr val="0922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BBD4EC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相同</a:t>
                      </a:r>
                      <a:endParaRPr sz="1050" b="0">
                        <a:solidFill>
                          <a:srgbClr val="BBD4EC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09728" marR="109728" anchor="ctr">
                    <a:solidFill>
                      <a:srgbClr val="0922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BBD4EC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分层、鉴权、统一响应、异常收口正是需要的</a:t>
                      </a:r>
                      <a:endParaRPr sz="1050" b="0">
                        <a:solidFill>
                          <a:srgbClr val="BBD4EC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09728" marR="109728" anchor="ctr">
                    <a:solidFill>
                      <a:srgbClr val="092244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BBD4EC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数据访问</a:t>
                      </a:r>
                      <a:endParaRPr sz="1050" b="0">
                        <a:solidFill>
                          <a:srgbClr val="BBD4EC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09728" marR="109728" anchor="ctr">
                    <a:solidFill>
                      <a:srgbClr val="06183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BBD4EC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Prisma</a:t>
                      </a:r>
                      <a:endParaRPr sz="1050" b="0">
                        <a:solidFill>
                          <a:srgbClr val="BBD4EC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09728" marR="109728" anchor="ctr">
                    <a:solidFill>
                      <a:srgbClr val="06183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BBD4EC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Node 内置 SQLite 驱动</a:t>
                      </a:r>
                      <a:endParaRPr sz="1050" b="0">
                        <a:solidFill>
                          <a:srgbClr val="BBD4EC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09728" marR="109728" anchor="ctr">
                    <a:solidFill>
                      <a:srgbClr val="06183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BBD4EC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避免引擎二进制与平台绑定带来的安装约束</a:t>
                      </a:r>
                      <a:endParaRPr sz="1050" b="0">
                        <a:solidFill>
                          <a:srgbClr val="BBD4EC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09728" marR="109728" anchor="ctr">
                    <a:solidFill>
                      <a:srgbClr val="061834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BBD4EC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数据库</a:t>
                      </a:r>
                      <a:endParaRPr sz="1050" b="0">
                        <a:solidFill>
                          <a:srgbClr val="BBD4EC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09728" marR="109728" anchor="ctr">
                    <a:solidFill>
                      <a:srgbClr val="0922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BBD4EC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MySQL 8</a:t>
                      </a:r>
                      <a:endParaRPr sz="1050" b="0">
                        <a:solidFill>
                          <a:srgbClr val="BBD4EC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09728" marR="109728" anchor="ctr">
                    <a:solidFill>
                      <a:srgbClr val="0922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BBD4EC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SQLite 单文件</a:t>
                      </a:r>
                      <a:endParaRPr sz="1050" b="0">
                        <a:solidFill>
                          <a:srgbClr val="BBD4EC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09728" marR="109728" anchor="ctr">
                    <a:solidFill>
                      <a:srgbClr val="0922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BBD4EC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数据规模在万级，单文件更省事、备份更简单</a:t>
                      </a:r>
                      <a:endParaRPr sz="1050" b="0">
                        <a:solidFill>
                          <a:srgbClr val="BBD4EC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09728" marR="109728" anchor="ctr">
                    <a:solidFill>
                      <a:srgbClr val="092244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BBD4EC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缓存与实时</a:t>
                      </a:r>
                      <a:endParaRPr sz="1050" b="0">
                        <a:solidFill>
                          <a:srgbClr val="BBD4EC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09728" marR="109728" anchor="ctr">
                    <a:solidFill>
                      <a:srgbClr val="06183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BBD4EC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Redis</a:t>
                      </a:r>
                      <a:endParaRPr sz="1050" b="0">
                        <a:solidFill>
                          <a:srgbClr val="BBD4EC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09728" marR="109728" anchor="ctr">
                    <a:solidFill>
                      <a:srgbClr val="06183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BBD4EC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进程内缓存 + 事件总线</a:t>
                      </a:r>
                      <a:endParaRPr sz="1050" b="0">
                        <a:solidFill>
                          <a:srgbClr val="BBD4EC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09728" marR="109728" anchor="ctr">
                    <a:solidFill>
                      <a:srgbClr val="06183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BBD4EC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单实例部署，Redis 的四类用途都不成立</a:t>
                      </a:r>
                      <a:endParaRPr sz="1050" b="0">
                        <a:solidFill>
                          <a:srgbClr val="BBD4EC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09728" marR="109728" anchor="ctr">
                    <a:solidFill>
                      <a:srgbClr val="061834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BBD4EC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交付与网关</a:t>
                      </a:r>
                      <a:endParaRPr sz="1050" b="0">
                        <a:solidFill>
                          <a:srgbClr val="BBD4EC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09728" marR="109728" anchor="ctr">
                    <a:solidFill>
                      <a:srgbClr val="0922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BBD4EC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Docker + Nginx</a:t>
                      </a:r>
                      <a:endParaRPr sz="1050" b="0">
                        <a:solidFill>
                          <a:srgbClr val="BBD4EC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09728" marR="109728" anchor="ctr">
                    <a:solidFill>
                      <a:srgbClr val="0922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BBD4EC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零依赖启动器，后端直接托管</a:t>
                      </a:r>
                      <a:endParaRPr sz="1050" b="0">
                        <a:solidFill>
                          <a:srgbClr val="BBD4EC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09728" marR="109728" anchor="ctr">
                    <a:solidFill>
                      <a:srgbClr val="0922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050" b="0">
                          <a:solidFill>
                            <a:srgbClr val="BBD4EC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交付目标是双击即用，不引入额外前置条件</a:t>
                      </a:r>
                      <a:endParaRPr sz="1050" b="0">
                        <a:solidFill>
                          <a:srgbClr val="BBD4EC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09728" marR="109728" anchor="ctr">
                    <a:solidFill>
                      <a:srgbClr val="09224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1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7FE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65760"/>
            <a:ext cx="11057839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>
                <a:solidFill>
                  <a:srgbClr val="5CC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质量保证 / QUALITY</a:t>
            </a:r>
            <a:endParaRPr sz="1150" b="1">
              <a:solidFill>
                <a:srgbClr val="5CC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66928" y="621792"/>
            <a:ext cx="11057839" cy="512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700" b="1">
                <a:solidFill>
                  <a:srgbClr val="ECF7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怎么保证「改不坏」：71 项自动化验收</a:t>
            </a:r>
            <a:endParaRPr sz="2700" b="1">
              <a:solidFill>
                <a:srgbClr val="ECF7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66928" y="1115568"/>
            <a:ext cx="11057839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BBD4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这些检查会把大屏上的每个数字、每个页面的每个入口都核对一遍，改代码后跑一次即可。</a:t>
            </a:r>
            <a:endParaRPr sz="1250" b="0">
              <a:solidFill>
                <a:srgbClr val="BBD4E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66928" y="6437376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7E9EC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医院数据管理平台 · 急救绿道</a:t>
            </a:r>
            <a:endParaRPr sz="950" b="0">
              <a:solidFill>
                <a:srgbClr val="7E9EC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795967" y="6437376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0">
                <a:solidFill>
                  <a:srgbClr val="7E9EC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12 / 15</a:t>
            </a:r>
            <a:endParaRPr sz="950" b="0">
              <a:solidFill>
                <a:srgbClr val="7E9EC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66928" y="1627632"/>
          <a:ext cx="11057839" cy="37856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1005840"/>
                <a:gridCol w="8131759"/>
              </a:tblGrid>
              <a:tr h="402336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1">
                          <a:solidFill>
                            <a:srgbClr val="7FE3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验收套件</a:t>
                      </a:r>
                      <a:endParaRPr sz="1100" b="1">
                        <a:solidFill>
                          <a:srgbClr val="7FE3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09728" marR="109728" anchor="ctr">
                    <a:solidFill>
                      <a:srgbClr val="0C2C5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1">
                          <a:solidFill>
                            <a:srgbClr val="7FE3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项数</a:t>
                      </a:r>
                      <a:endParaRPr sz="1100" b="1">
                        <a:solidFill>
                          <a:srgbClr val="7FE3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09728" marR="109728" anchor="ctr">
                    <a:solidFill>
                      <a:srgbClr val="0C2C5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1">
                          <a:solidFill>
                            <a:srgbClr val="7FE3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检查什么</a:t>
                      </a:r>
                      <a:endParaRPr sz="1100" b="1">
                        <a:solidFill>
                          <a:srgbClr val="7FE3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09728" marR="109728" anchor="ctr">
                    <a:solidFill>
                      <a:srgbClr val="0C2C54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BBD4EC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接口验收</a:t>
                      </a:r>
                      <a:endParaRPr sz="1100" b="0">
                        <a:solidFill>
                          <a:srgbClr val="BBD4EC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09728" marR="109728" anchor="ctr">
                    <a:solidFill>
                      <a:srgbClr val="06183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BBD4EC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37 项</a:t>
                      </a:r>
                      <a:endParaRPr sz="1100" b="0">
                        <a:solidFill>
                          <a:srgbClr val="BBD4EC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09728" marR="109728" anchor="ctr">
                    <a:solidFill>
                      <a:srgbClr val="06183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BBD4EC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把大屏上的每个数字钉死成断言：累计人数、12 个月序列、24 小时表格内容、筛选排序、权限拦截</a:t>
                      </a:r>
                      <a:endParaRPr sz="1100" b="0">
                        <a:solidFill>
                          <a:srgbClr val="BBD4EC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09728" marR="109728" anchor="ctr">
                    <a:solidFill>
                      <a:srgbClr val="061834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BBD4EC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大屏验收</a:t>
                      </a:r>
                      <a:endParaRPr sz="1100" b="0">
                        <a:solidFill>
                          <a:srgbClr val="BBD4EC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09728" marR="109728" anchor="ctr">
                    <a:solidFill>
                      <a:srgbClr val="0922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BBD4EC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7 项</a:t>
                      </a:r>
                      <a:endParaRPr sz="1100" b="0">
                        <a:solidFill>
                          <a:srgbClr val="BBD4EC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09728" marR="109728" anchor="ctr">
                    <a:solidFill>
                      <a:srgbClr val="0922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BBD4EC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用真实浏览器打开：标题、8 列表头、姓名脱敏、无缝滚动，并输出 1920×1080 截图留档</a:t>
                      </a:r>
                      <a:endParaRPr sz="1100" b="0">
                        <a:solidFill>
                          <a:srgbClr val="BBD4EC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09728" marR="109728" anchor="ctr">
                    <a:solidFill>
                      <a:srgbClr val="092244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BBD4EC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后台验收</a:t>
                      </a:r>
                      <a:endParaRPr sz="1100" b="0">
                        <a:solidFill>
                          <a:srgbClr val="BBD4EC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09728" marR="109728" anchor="ctr">
                    <a:solidFill>
                      <a:srgbClr val="06183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BBD4EC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18 项</a:t>
                      </a:r>
                      <a:endParaRPr sz="1100" b="0">
                        <a:solidFill>
                          <a:srgbClr val="BBD4EC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09728" marR="109728" anchor="ctr">
                    <a:solidFill>
                      <a:srgbClr val="06183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BBD4EC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真实登录后逐页巡检 13 个页面，并验证越权访问会被拦截</a:t>
                      </a:r>
                      <a:endParaRPr sz="1100" b="0">
                        <a:solidFill>
                          <a:srgbClr val="BBD4EC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09728" marR="109728" anchor="ctr">
                    <a:solidFill>
                      <a:srgbClr val="061834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BBD4EC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公网版验收</a:t>
                      </a:r>
                      <a:endParaRPr sz="1100" b="0">
                        <a:solidFill>
                          <a:srgbClr val="BBD4EC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09728" marR="109728" anchor="ctr">
                    <a:solidFill>
                      <a:srgbClr val="0922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BBD4EC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33 项</a:t>
                      </a:r>
                      <a:endParaRPr sz="1100" b="0">
                        <a:solidFill>
                          <a:srgbClr val="BBD4EC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09728" marR="109728" anchor="ctr">
                    <a:solidFill>
                      <a:srgbClr val="0922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BBD4EC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除功能外，额外确认「响应里不出现真实机构名」与「不提供患者明文」</a:t>
                      </a:r>
                      <a:endParaRPr sz="1100" b="0">
                        <a:solidFill>
                          <a:srgbClr val="BBD4EC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09728" marR="109728" anchor="ctr">
                    <a:solidFill>
                      <a:srgbClr val="092244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BBD4EC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批处理编码检查</a:t>
                      </a:r>
                      <a:endParaRPr sz="1100" b="0">
                        <a:solidFill>
                          <a:srgbClr val="BBD4EC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09728" marR="109728" anchor="ctr">
                    <a:solidFill>
                      <a:srgbClr val="06183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BBD4EC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8 项</a:t>
                      </a:r>
                      <a:endParaRPr sz="1100" b="0">
                        <a:solidFill>
                          <a:srgbClr val="BBD4EC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09728" marR="109728" anchor="ctr">
                    <a:solidFill>
                      <a:srgbClr val="06183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BBD4EC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防止中文写进 .bat 导致命令解析错乱——这是踩过的坑，固化成回归守卫</a:t>
                      </a:r>
                      <a:endParaRPr sz="1100" b="0">
                        <a:solidFill>
                          <a:srgbClr val="BBD4EC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09728" marR="109728" anchor="ctr">
                    <a:solidFill>
                      <a:srgbClr val="061834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66928" y="5559552"/>
            <a:ext cx="11057839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BBD4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全部只依赖系统自带的 Node 与 Chrome，不需要安装任何测试框架，因此在任何一台电脑上都能跑起来。</a:t>
            </a:r>
            <a:endParaRPr sz="1200" b="0">
              <a:solidFill>
                <a:srgbClr val="BBD4E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1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7FE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65760"/>
            <a:ext cx="11057839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>
                <a:solidFill>
                  <a:srgbClr val="5CC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安全合规 / COMPLIANCE</a:t>
            </a:r>
            <a:endParaRPr sz="1150" b="1">
              <a:solidFill>
                <a:srgbClr val="5CC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66928" y="621792"/>
            <a:ext cx="11057839" cy="512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700" b="1">
                <a:solidFill>
                  <a:srgbClr val="ECF7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可以公开演示，因为里面没有敏感信息</a:t>
            </a:r>
            <a:endParaRPr sz="2700" b="1">
              <a:solidFill>
                <a:srgbClr val="ECF7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66928" y="1115568"/>
            <a:ext cx="11057839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BBD4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公开可见的前提是把数据脱敏做在前面，而不是事后打码。</a:t>
            </a:r>
            <a:endParaRPr sz="1250" b="0">
              <a:solidFill>
                <a:srgbClr val="BBD4E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66928" y="6437376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7E9EC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医院数据管理平台 · 急救绿道</a:t>
            </a:r>
            <a:endParaRPr sz="950" b="0">
              <a:solidFill>
                <a:srgbClr val="7E9EC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795967" y="6437376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0">
                <a:solidFill>
                  <a:srgbClr val="7E9EC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13 / 15</a:t>
            </a:r>
            <a:endParaRPr sz="950" b="0">
              <a:solidFill>
                <a:srgbClr val="7E9EC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566928" y="1627632"/>
            <a:ext cx="3527450" cy="3200400"/>
          </a:xfrm>
          <a:prstGeom prst="roundRect">
            <a:avLst>
              <a:gd name="adj" fmla="val 6000"/>
            </a:avLst>
          </a:prstGeom>
          <a:solidFill>
            <a:srgbClr val="061A38"/>
          </a:solidFill>
          <a:ln w="9525">
            <a:solidFill>
              <a:srgbClr val="1A4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66928" y="1627632"/>
            <a:ext cx="3527450" cy="68580"/>
          </a:xfrm>
          <a:prstGeom prst="roundRect">
            <a:avLst>
              <a:gd name="adj" fmla="val 50000"/>
            </a:avLst>
          </a:prstGeom>
          <a:solidFill>
            <a:srgbClr val="5CC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22960" y="1883663"/>
            <a:ext cx="438912" cy="438912"/>
          </a:xfrm>
          <a:prstGeom prst="ellipse">
            <a:avLst/>
          </a:prstGeom>
          <a:solidFill>
            <a:srgbClr val="0C2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200" b="1">
                <a:solidFill>
                  <a:srgbClr val="5CC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◆</a:t>
            </a:r>
            <a:endParaRPr sz="1200" b="1">
              <a:solidFill>
                <a:srgbClr val="5CC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822960" y="2487168"/>
            <a:ext cx="301538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>
                <a:solidFill>
                  <a:srgbClr val="ECF7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数据脱敏</a:t>
            </a:r>
            <a:endParaRPr sz="1700" b="1">
              <a:solidFill>
                <a:srgbClr val="ECF7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822960" y="2962656"/>
            <a:ext cx="3015386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900"/>
              </a:spcAft>
            </a:pPr>
            <a:r>
              <a:rPr sz="1100" b="0">
                <a:solidFill>
                  <a:srgbClr val="BBD4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· 机构名称统一使用占位名</a:t>
            </a:r>
            <a:endParaRPr sz="1100" b="0">
              <a:solidFill>
                <a:srgbClr val="BBD4E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2000"/>
              </a:lnSpc>
              <a:spcAft>
                <a:spcPts val="900"/>
              </a:spcAft>
            </a:pPr>
            <a:r>
              <a:rPr sz="1100" b="0">
                <a:solidFill>
                  <a:srgbClr val="BBD4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· 患者姓名以脱敏形式存储与展示</a:t>
            </a:r>
            <a:endParaRPr sz="1100" b="0">
              <a:solidFill>
                <a:srgbClr val="BBD4E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2000"/>
              </a:lnSpc>
              <a:spcAft>
                <a:spcPts val="900"/>
              </a:spcAft>
            </a:pPr>
            <a:r>
              <a:rPr sz="1100" b="0">
                <a:solidFill>
                  <a:srgbClr val="BBD4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· 公开仓库全量检索：真实机构名与患者明文 0 命中</a:t>
            </a:r>
            <a:endParaRPr sz="1100" b="0">
              <a:solidFill>
                <a:srgbClr val="BBD4E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4332122" y="1627632"/>
            <a:ext cx="3527450" cy="3200400"/>
          </a:xfrm>
          <a:prstGeom prst="roundRect">
            <a:avLst>
              <a:gd name="adj" fmla="val 6000"/>
            </a:avLst>
          </a:prstGeom>
          <a:solidFill>
            <a:srgbClr val="061A38"/>
          </a:solidFill>
          <a:ln w="9525">
            <a:solidFill>
              <a:srgbClr val="1A4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332122" y="1627632"/>
            <a:ext cx="3527450" cy="68580"/>
          </a:xfrm>
          <a:prstGeom prst="roundRect">
            <a:avLst>
              <a:gd name="adj" fmla="val 50000"/>
            </a:avLst>
          </a:prstGeom>
          <a:solidFill>
            <a:srgbClr val="7FE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588154" y="1883663"/>
            <a:ext cx="438912" cy="438912"/>
          </a:xfrm>
          <a:prstGeom prst="ellipse">
            <a:avLst/>
          </a:prstGeom>
          <a:solidFill>
            <a:srgbClr val="0C2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200" b="1">
                <a:solidFill>
                  <a:srgbClr val="5CC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◆</a:t>
            </a:r>
            <a:endParaRPr sz="1200" b="1">
              <a:solidFill>
                <a:srgbClr val="5CC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4588154" y="2487168"/>
            <a:ext cx="301538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>
                <a:solidFill>
                  <a:srgbClr val="ECF7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权限管控</a:t>
            </a:r>
            <a:endParaRPr sz="1700" b="1">
              <a:solidFill>
                <a:srgbClr val="ECF7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4588154" y="2962656"/>
            <a:ext cx="3015386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900"/>
              </a:spcAft>
            </a:pPr>
            <a:r>
              <a:rPr sz="1100" b="0">
                <a:solidFill>
                  <a:srgbClr val="BBD4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· 7 种角色，按岗位授予最小权限</a:t>
            </a:r>
            <a:endParaRPr sz="1100" b="0">
              <a:solidFill>
                <a:srgbClr val="BBD4E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2000"/>
              </a:lnSpc>
              <a:spcAft>
                <a:spcPts val="900"/>
              </a:spcAft>
            </a:pPr>
            <a:r>
              <a:rPr sz="1100" b="0">
                <a:solidFill>
                  <a:srgbClr val="BBD4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· 越权访问由系统强制拦截，不依赖人工自觉</a:t>
            </a:r>
            <a:endParaRPr sz="1100" b="0">
              <a:solidFill>
                <a:srgbClr val="BBD4E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2000"/>
              </a:lnSpc>
              <a:spcAft>
                <a:spcPts val="900"/>
              </a:spcAft>
            </a:pPr>
            <a:r>
              <a:rPr sz="1100" b="0">
                <a:solidFill>
                  <a:srgbClr val="BBD4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· 明文查看需要单独授权，且每一次都留痕</a:t>
            </a:r>
            <a:endParaRPr sz="1100" b="0">
              <a:solidFill>
                <a:srgbClr val="BBD4E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8097316" y="1627632"/>
            <a:ext cx="3527450" cy="3200400"/>
          </a:xfrm>
          <a:prstGeom prst="roundRect">
            <a:avLst>
              <a:gd name="adj" fmla="val 6000"/>
            </a:avLst>
          </a:prstGeom>
          <a:solidFill>
            <a:srgbClr val="061A38"/>
          </a:solidFill>
          <a:ln w="9525">
            <a:solidFill>
              <a:srgbClr val="1A4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097316" y="1627632"/>
            <a:ext cx="3527450" cy="68580"/>
          </a:xfrm>
          <a:prstGeom prst="roundRect">
            <a:avLst>
              <a:gd name="adj" fmla="val 50000"/>
            </a:avLst>
          </a:prstGeom>
          <a:solidFill>
            <a:srgbClr val="7FF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353348" y="1883663"/>
            <a:ext cx="438912" cy="438912"/>
          </a:xfrm>
          <a:prstGeom prst="ellipse">
            <a:avLst/>
          </a:prstGeom>
          <a:solidFill>
            <a:srgbClr val="0C2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200" b="1">
                <a:solidFill>
                  <a:srgbClr val="5CC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◆</a:t>
            </a:r>
            <a:endParaRPr sz="1200" b="1">
              <a:solidFill>
                <a:srgbClr val="5CC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8353348" y="2487168"/>
            <a:ext cx="301538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>
                <a:solidFill>
                  <a:srgbClr val="ECF7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可追溯</a:t>
            </a:r>
            <a:endParaRPr sz="1700" b="1">
              <a:solidFill>
                <a:srgbClr val="ECF7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8353348" y="2962656"/>
            <a:ext cx="3015386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900"/>
              </a:spcAft>
            </a:pPr>
            <a:r>
              <a:rPr sz="1100" b="0">
                <a:solidFill>
                  <a:srgbClr val="BBD4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· 关键操作全部写入审计日志</a:t>
            </a:r>
            <a:endParaRPr sz="1100" b="0">
              <a:solidFill>
                <a:srgbClr val="BBD4E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2000"/>
              </a:lnSpc>
              <a:spcAft>
                <a:spcPts val="900"/>
              </a:spcAft>
            </a:pPr>
            <a:r>
              <a:rPr sz="1100" b="0">
                <a:solidFill>
                  <a:srgbClr val="BBD4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· 记录操作人、时间、对象与变更内容</a:t>
            </a:r>
            <a:endParaRPr sz="1100" b="0">
              <a:solidFill>
                <a:srgbClr val="BBD4E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2000"/>
              </a:lnSpc>
              <a:spcAft>
                <a:spcPts val="900"/>
              </a:spcAft>
            </a:pPr>
            <a:r>
              <a:rPr sz="1100" b="0">
                <a:solidFill>
                  <a:srgbClr val="BBD4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· 登录记录单独留存，便于回溯</a:t>
            </a:r>
            <a:endParaRPr sz="1100" b="0">
              <a:solidFill>
                <a:srgbClr val="BBD4E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4" name="Rounded Rectangle 23"/>
          <p:cNvSpPr/>
          <p:nvPr/>
        </p:nvSpPr>
        <p:spPr>
          <a:xfrm>
            <a:off x="566928" y="5047488"/>
            <a:ext cx="11057839" cy="713232"/>
          </a:xfrm>
          <a:prstGeom prst="roundRect">
            <a:avLst>
              <a:gd name="adj" fmla="val 10000"/>
            </a:avLst>
          </a:prstGeom>
          <a:solidFill>
            <a:srgbClr val="061A38"/>
          </a:solidFill>
          <a:ln w="9525">
            <a:solidFill>
              <a:srgbClr val="1A4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59536" y="5230368"/>
            <a:ext cx="10472623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>
                <a:solidFill>
                  <a:srgbClr val="5CC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一句话：</a:t>
            </a:r>
            <a:r>
              <a:rPr sz="1250" b="0">
                <a:solidFill>
                  <a:srgbClr val="BBD4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仓库里所有机构名称（示例市第二人民医院）、患者姓名（王*涛 等）与统计数值</a:t>
            </a:r>
            <a:r>
              <a:rPr sz="1250" b="1">
                <a:solidFill>
                  <a:srgbClr val="7FFFE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均为合成的演示数据</a:t>
            </a:r>
            <a:r>
              <a:rPr sz="1250" b="0">
                <a:solidFill>
                  <a:srgbClr val="BBD4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，不代表任何真实机构或真实统计结果。</a:t>
            </a:r>
            <a:endParaRPr sz="1250" b="0">
              <a:solidFill>
                <a:srgbClr val="BBD4E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1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7FE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65760"/>
            <a:ext cx="11057839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>
                <a:solidFill>
                  <a:srgbClr val="5CC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下一步 / NEXT</a:t>
            </a:r>
            <a:endParaRPr sz="1150" b="1">
              <a:solidFill>
                <a:srgbClr val="5CC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66928" y="621792"/>
            <a:ext cx="11057839" cy="512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700" b="1">
                <a:solidFill>
                  <a:srgbClr val="ECF7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演进路线：什么时候该升级</a:t>
            </a:r>
            <a:endParaRPr sz="2700" b="1">
              <a:solidFill>
                <a:srgbClr val="ECF7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66928" y="1115568"/>
            <a:ext cx="11057839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BBD4E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现在的精简方案是有前提的；下面这些条件一旦出现，就该按对应动作换栈，不用推倒重来。</a:t>
            </a:r>
            <a:endParaRPr sz="1250" b="0">
              <a:solidFill>
                <a:srgbClr val="BBD4E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66928" y="6437376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7E9EC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医院数据管理平台 · 急救绿道</a:t>
            </a:r>
            <a:endParaRPr sz="950" b="0">
              <a:solidFill>
                <a:srgbClr val="7E9EC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795967" y="6437376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0">
                <a:solidFill>
                  <a:srgbClr val="7E9EC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14 / 15</a:t>
            </a:r>
            <a:endParaRPr sz="950" b="0">
              <a:solidFill>
                <a:srgbClr val="7E9EC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66928" y="1627632"/>
          <a:ext cx="11057839" cy="41330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7217359"/>
              </a:tblGrid>
              <a:tr h="402336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1">
                          <a:solidFill>
                            <a:srgbClr val="7FE3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触发条件</a:t>
                      </a:r>
                      <a:endParaRPr sz="1100" b="1">
                        <a:solidFill>
                          <a:srgbClr val="7FE3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09728" marR="109728" anchor="ctr">
                    <a:solidFill>
                      <a:srgbClr val="0C2C5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1">
                          <a:solidFill>
                            <a:srgbClr val="7FE3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建议动作</a:t>
                      </a:r>
                      <a:endParaRPr sz="1100" b="1">
                        <a:solidFill>
                          <a:srgbClr val="7FE3FF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09728" marR="109728" anchor="ctr">
                    <a:solidFill>
                      <a:srgbClr val="0C2C54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BBD4EC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多科室 / 多院区并发写入，出现写等待</a:t>
                      </a:r>
                      <a:endParaRPr sz="1100" b="0">
                        <a:solidFill>
                          <a:srgbClr val="BBD4EC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09728" marR="109728" anchor="ctr">
                    <a:solidFill>
                      <a:srgbClr val="06183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BBD4EC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SQLite → MySQL 8（或 PostgreSQL），数据访问层可整体替换</a:t>
                      </a:r>
                      <a:endParaRPr sz="1100" b="0">
                        <a:solidFill>
                          <a:srgbClr val="BBD4EC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09728" marR="109728" anchor="ctr">
                    <a:solidFill>
                      <a:srgbClr val="061834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BBD4EC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病例量到百万级，报表查询开始变慢</a:t>
                      </a:r>
                      <a:endParaRPr sz="1100" b="0">
                        <a:solidFill>
                          <a:srgbClr val="BBD4EC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09728" marR="109728" anchor="ctr">
                    <a:solidFill>
                      <a:srgbClr val="0922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BBD4EC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换关系型数据库 + 物化统计表（现有统计表结构可直接沿用）</a:t>
                      </a:r>
                      <a:endParaRPr sz="1100" b="0">
                        <a:solidFill>
                          <a:srgbClr val="BBD4EC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09728" marR="109728" anchor="ctr">
                    <a:solidFill>
                      <a:srgbClr val="092244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BBD4EC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需要 7×24 高可用、要跑多实例</a:t>
                      </a:r>
                      <a:endParaRPr sz="1100" b="0">
                        <a:solidFill>
                          <a:srgbClr val="BBD4EC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09728" marR="109728" anchor="ctr">
                    <a:solidFill>
                      <a:srgbClr val="06183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BBD4EC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引入 Redis（会话 / 缓存 / 跨实例广播）+ Nginx 负载均衡 + 容器化</a:t>
                      </a:r>
                      <a:endParaRPr sz="1100" b="0">
                        <a:solidFill>
                          <a:srgbClr val="BBD4EC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09728" marR="109728" anchor="ctr">
                    <a:solidFill>
                      <a:srgbClr val="061834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BBD4EC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需要对第三方开放接口</a:t>
                      </a:r>
                      <a:endParaRPr sz="1100" b="0">
                        <a:solidFill>
                          <a:srgbClr val="BBD4EC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09728" marR="109728" anchor="ctr">
                    <a:solidFill>
                      <a:srgbClr val="0922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BBD4EC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Nginx 统一入口 + 限流 + 接口密钥管理</a:t>
                      </a:r>
                      <a:endParaRPr sz="1100" b="0">
                        <a:solidFill>
                          <a:srgbClr val="BBD4EC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09728" marR="109728" anchor="ctr">
                    <a:solidFill>
                      <a:srgbClr val="092244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BBD4EC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有等保 / 审计要求</a:t>
                      </a:r>
                      <a:endParaRPr sz="1100" b="0">
                        <a:solidFill>
                          <a:srgbClr val="BBD4EC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09728" marR="109728" anchor="ctr">
                    <a:solidFill>
                      <a:srgbClr val="06183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BBD4EC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独立数据库实例 + 备份策略 + 审计日志集中留存</a:t>
                      </a:r>
                      <a:endParaRPr sz="1100" b="0">
                        <a:solidFill>
                          <a:srgbClr val="BBD4EC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09728" marR="109728" anchor="ctr">
                    <a:solidFill>
                      <a:srgbClr val="061834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BBD4EC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开发人员超过 3 人并行</a:t>
                      </a:r>
                      <a:endParaRPr sz="1100" b="0">
                        <a:solidFill>
                          <a:srgbClr val="BBD4EC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09728" marR="109728" anchor="ctr">
                    <a:solidFill>
                      <a:srgbClr val="0922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100" b="0">
                          <a:solidFill>
                            <a:srgbClr val="BBD4EC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cs typeface="微软雅黑" panose="020B0503020204020204" charset="-122"/>
                        </a:rPr>
                        <a:t>引入 Prisma 迁移管理 + 容器统一开发环境，避免各自为政</a:t>
                      </a:r>
                      <a:endParaRPr sz="1100" b="0">
                        <a:solidFill>
                          <a:srgbClr val="BBD4EC"/>
                        </a:solidFill>
                        <a:latin typeface="微软雅黑" panose="020B0503020204020204" charset="-122"/>
                        <a:ea typeface="微软雅黑" panose="020B0503020204020204" charset="-122"/>
                        <a:cs typeface="微软雅黑" panose="020B0503020204020204" charset="-122"/>
                      </a:endParaRPr>
                    </a:p>
                  </a:txBody>
                  <a:tcPr marL="109728" marR="109728" anchor="ctr">
                    <a:solidFill>
                      <a:srgbClr val="09224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209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7FE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81328"/>
            <a:ext cx="104241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>
                <a:solidFill>
                  <a:srgbClr val="5CC8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一句话收尾</a:t>
            </a:r>
            <a:endParaRPr sz="1250" b="1">
              <a:solidFill>
                <a:srgbClr val="5CC8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777240" y="1920240"/>
            <a:ext cx="1042416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用最小的组件数，交付一套</a:t>
            </a:r>
            <a:endParaRPr sz="26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spcAft>
                <a:spcPts val="200"/>
              </a:spcAft>
            </a:pPr>
            <a:r>
              <a:rPr sz="2600" b="1">
                <a:solidFill>
                  <a:srgbClr val="7FFFE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打开就能跑、放着也坏不了</a:t>
            </a:r>
            <a:endParaRPr sz="2600" b="1">
              <a:solidFill>
                <a:srgbClr val="7FFFE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/>
            <a:r>
              <a:rPr sz="26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的急救绿道数据系统。</a:t>
            </a:r>
            <a:endParaRPr sz="26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777240" y="3749039"/>
            <a:ext cx="3291840" cy="1234440"/>
          </a:xfrm>
          <a:prstGeom prst="roundRect">
            <a:avLst>
              <a:gd name="adj" fmla="val 8000"/>
            </a:avLst>
          </a:prstGeom>
          <a:solidFill>
            <a:srgbClr val="0A2448"/>
          </a:solidFill>
          <a:ln w="9525">
            <a:solidFill>
              <a:srgbClr val="1A4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3271" y="3950208"/>
            <a:ext cx="278892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>
                <a:solidFill>
                  <a:srgbClr val="7FE3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现在就能用</a:t>
            </a:r>
            <a:endParaRPr sz="1350" b="1">
              <a:solidFill>
                <a:srgbClr val="7FE3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25000"/>
              </a:lnSpc>
            </a:pPr>
            <a:r>
              <a:rPr sz="1050" b="0">
                <a:solidFill>
                  <a:srgbClr val="C7DCF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双击「启动.bat」，浏览器自动打开，无需任何配置</a:t>
            </a:r>
            <a:endParaRPr sz="1050" b="0">
              <a:solidFill>
                <a:srgbClr val="C7DCF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4297680" y="3749039"/>
            <a:ext cx="3291840" cy="1234440"/>
          </a:xfrm>
          <a:prstGeom prst="roundRect">
            <a:avLst>
              <a:gd name="adj" fmla="val 8000"/>
            </a:avLst>
          </a:prstGeom>
          <a:solidFill>
            <a:srgbClr val="0A2448"/>
          </a:solidFill>
          <a:ln w="9525">
            <a:solidFill>
              <a:srgbClr val="1A4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53712" y="3950208"/>
            <a:ext cx="278892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>
                <a:solidFill>
                  <a:srgbClr val="7FE3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随时能演示</a:t>
            </a:r>
            <a:endParaRPr sz="1350" b="1">
              <a:solidFill>
                <a:srgbClr val="7FE3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25000"/>
              </a:lnSpc>
            </a:pPr>
            <a:r>
              <a:rPr sz="1050" b="0">
                <a:solidFill>
                  <a:srgbClr val="C7DCF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公网链接发给任何人即可查看大屏</a:t>
            </a:r>
            <a:endParaRPr sz="1050" b="0">
              <a:solidFill>
                <a:srgbClr val="C7DCF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7818120" y="3749039"/>
            <a:ext cx="3291840" cy="1234440"/>
          </a:xfrm>
          <a:prstGeom prst="roundRect">
            <a:avLst>
              <a:gd name="adj" fmla="val 8000"/>
            </a:avLst>
          </a:prstGeom>
          <a:solidFill>
            <a:srgbClr val="0A2448"/>
          </a:solidFill>
          <a:ln w="9525">
            <a:solidFill>
              <a:srgbClr val="1A42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74152" y="3950208"/>
            <a:ext cx="278892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>
                <a:solidFill>
                  <a:srgbClr val="7FE3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后续可演进</a:t>
            </a:r>
            <a:endParaRPr sz="1350" b="1">
              <a:solidFill>
                <a:srgbClr val="7FE3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25000"/>
              </a:lnSpc>
            </a:pPr>
            <a:r>
              <a:rPr sz="1050" b="0">
                <a:solidFill>
                  <a:srgbClr val="C7DCF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业务量上来后按第 14 页的触发表换栈</a:t>
            </a:r>
            <a:endParaRPr sz="1050" b="0">
              <a:solidFill>
                <a:srgbClr val="C7DCF2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777240" y="5303520"/>
            <a:ext cx="10424160" cy="5073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7F9DC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演示账号 admin / Hospital@123　·　大屏 http://127.0.0.1:3000/screen/　·　公网 popostar11.github.io/hospital-data-platform</a:t>
            </a:r>
            <a:endParaRPr sz="1100" b="0">
              <a:solidFill>
                <a:srgbClr val="7F9DC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/>
            <a:endParaRPr sz="1100" b="0">
              <a:solidFill>
                <a:srgbClr val="7F9DC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/>
            <a:r>
              <a:rPr lang="zh-CN" altLang="en-US" sz="1100" b="0">
                <a:solidFill>
                  <a:srgbClr val="7F9DC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这套系统要是卖给医院的话</a:t>
            </a:r>
            <a:r>
              <a:rPr lang="en-US" altLang="zh-CN" sz="1100" b="0">
                <a:solidFill>
                  <a:srgbClr val="7F9DC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,</a:t>
            </a:r>
            <a:r>
              <a:rPr lang="zh-CN" altLang="en-US" sz="1100" b="0">
                <a:solidFill>
                  <a:srgbClr val="7F9DC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需要买服务器域名</a:t>
            </a:r>
            <a:r>
              <a:rPr lang="en-US" altLang="zh-CN" sz="1100" b="0">
                <a:solidFill>
                  <a:srgbClr val="7F9DC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(</a:t>
            </a:r>
            <a:r>
              <a:rPr lang="zh-CN" altLang="en-US" sz="1100" b="0">
                <a:solidFill>
                  <a:srgbClr val="7F9DC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基本是租</a:t>
            </a:r>
            <a:r>
              <a:rPr lang="en-US" altLang="zh-CN" sz="1100" b="0">
                <a:solidFill>
                  <a:srgbClr val="7F9DC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)(</a:t>
            </a:r>
            <a:r>
              <a:rPr lang="zh-CN" altLang="en-US" sz="1100" b="0">
                <a:solidFill>
                  <a:srgbClr val="7F9DC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域名好比一家店的营业执照</a:t>
            </a:r>
            <a:r>
              <a:rPr lang="en-US" altLang="zh-CN" sz="1100" b="0">
                <a:solidFill>
                  <a:srgbClr val="7F9DC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,</a:t>
            </a:r>
            <a:r>
              <a:rPr lang="zh-CN" altLang="en-US" sz="1100" b="0">
                <a:solidFill>
                  <a:srgbClr val="7F9DC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域名不用要注销掉</a:t>
            </a:r>
            <a:r>
              <a:rPr lang="en-US" altLang="zh-CN" sz="1100" b="0">
                <a:solidFill>
                  <a:srgbClr val="7F9DC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,</a:t>
            </a:r>
            <a:r>
              <a:rPr lang="zh-CN" altLang="en-US" sz="1100" b="0">
                <a:solidFill>
                  <a:srgbClr val="7F9DC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不然会被盗</a:t>
            </a:r>
            <a:r>
              <a:rPr lang="en-US" altLang="zh-CN" sz="1100" b="0">
                <a:solidFill>
                  <a:srgbClr val="7F9DC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),xxxxxx.com</a:t>
            </a:r>
            <a:r>
              <a:rPr lang="zh-CN" altLang="en-US" sz="1100" b="0">
                <a:solidFill>
                  <a:srgbClr val="7F9DC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就是访问网站</a:t>
            </a:r>
            <a:r>
              <a:rPr lang="en-US" altLang="zh-CN" sz="1100" b="0">
                <a:solidFill>
                  <a:srgbClr val="7F9DC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,</a:t>
            </a:r>
            <a:r>
              <a:rPr lang="zh-CN" altLang="en-US" sz="1100" b="0">
                <a:solidFill>
                  <a:srgbClr val="7F9DC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现在只是静态网站</a:t>
            </a:r>
            <a:endParaRPr lang="zh-CN" altLang="en-US" sz="1100" b="0">
              <a:solidFill>
                <a:srgbClr val="7F9DC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566928" y="6437376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7E9EC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医院数据管理平台 · 急救绿道</a:t>
            </a:r>
            <a:endParaRPr sz="950" b="0">
              <a:solidFill>
                <a:srgbClr val="7E9EC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9795967" y="6437376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0">
                <a:solidFill>
                  <a:srgbClr val="7E9EC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15 / 15</a:t>
            </a:r>
            <a:endParaRPr sz="950" b="0">
              <a:solidFill>
                <a:srgbClr val="7E9EC4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DIAGRAM_VIRTUALLY_FRAME" val="{&quot;height&quot;:226.8,&quot;left&quot;:44.64,&quot;top&quot;:128.16,&quot;width&quot;:870.695905511811}"/>
</p:tagLst>
</file>

<file path=ppt/tags/tag2.xml><?xml version="1.0" encoding="utf-8"?>
<p:tagLst xmlns:p="http://schemas.openxmlformats.org/presentationml/2006/main">
  <p:tag name="KSO_WM_DIAGRAM_VIRTUALLY_FRAME" val="{&quot;height&quot;:226.8,&quot;left&quot;:44.64,&quot;top&quot;:128.16,&quot;width&quot;:870.695905511811}"/>
</p:tagLst>
</file>

<file path=ppt/tags/tag3.xml><?xml version="1.0" encoding="utf-8"?>
<p:tagLst xmlns:p="http://schemas.openxmlformats.org/presentationml/2006/main">
  <p:tag name="KSO_WM_DIAGRAM_VIRTUALLY_FRAME" val="{&quot;height&quot;:226.8,&quot;left&quot;:44.64,&quot;top&quot;:128.16,&quot;width&quot;:870.695905511811}"/>
</p:tagLst>
</file>

<file path=ppt/tags/tag4.xml><?xml version="1.0" encoding="utf-8"?>
<p:tagLst xmlns:p="http://schemas.openxmlformats.org/presentationml/2006/main">
  <p:tag name="KSO_WM_DIAGRAM_VIRTUALLY_FRAME" val="{&quot;height&quot;:226.8,&quot;left&quot;:44.64,&quot;top&quot;:128.16,&quot;width&quot;:870.695905511811}"/>
</p:tagLst>
</file>

<file path=ppt/tags/tag5.xml><?xml version="1.0" encoding="utf-8"?>
<p:tagLst xmlns:p="http://schemas.openxmlformats.org/presentationml/2006/main">
  <p:tag name="KSO_WM_DIAGRAM_VIRTUALLY_FRAME" val="{&quot;height&quot;:226.8,&quot;left&quot;:44.64,&quot;top&quot;:128.16,&quot;width&quot;:870.695905511811}"/>
</p:tagLst>
</file>

<file path=ppt/tags/tag6.xml><?xml version="1.0" encoding="utf-8"?>
<p:tagLst xmlns:p="http://schemas.openxmlformats.org/presentationml/2006/main">
  <p:tag name="KSO_WM_DIAGRAM_VIRTUALLY_FRAME" val="{&quot;height&quot;:226.8,&quot;left&quot;:44.64,&quot;top&quot;:128.16,&quot;width&quot;:870.695905511811}"/>
</p:tagLst>
</file>

<file path=ppt/tags/tag7.xml><?xml version="1.0" encoding="utf-8"?>
<p:tagLst xmlns:p="http://schemas.openxmlformats.org/presentationml/2006/main">
  <p:tag name="KSO_WM_DIAGRAM_VIRTUALLY_FRAME" val="{&quot;height&quot;:226.8,&quot;left&quot;:44.64,&quot;top&quot;:128.16,&quot;width&quot;:870.695905511811}"/>
</p:tagLst>
</file>

<file path=ppt/tags/tag8.xml><?xml version="1.0" encoding="utf-8"?>
<p:tagLst xmlns:p="http://schemas.openxmlformats.org/presentationml/2006/main">
  <p:tag name="KSO_WM_DIAGRAM_VIRTUALLY_FRAME" val="{&quot;height&quot;:226.8,&quot;left&quot;:44.64,&quot;top&quot;:128.16,&quot;width&quot;:870.695905511811}"/>
</p:tagLst>
</file>

<file path=ppt/tags/tag9.xml><?xml version="1.0" encoding="utf-8"?>
<p:tagLst xmlns:p="http://schemas.openxmlformats.org/presentationml/2006/main">
  <p:tag name="KSO_WM_DIAGRAM_VIRTUALLY_FRAME" val="{&quot;height&quot;:226.8,&quot;left&quot;:44.64,&quot;top&quot;:128.16,&quot;width&quot;:870.695905511811}"/>
</p:tagLst>
</file>

<file path=ppt/tags/tag10.xml><?xml version="1.0" encoding="utf-8"?>
<p:tagLst xmlns:p="http://schemas.openxmlformats.org/presentationml/2006/main">
  <p:tag name="KSO_WM_DIAGRAM_VIRTUALLY_FRAME" val="{&quot;height&quot;:226.8,&quot;left&quot;:44.64,&quot;top&quot;:128.16,&quot;width&quot;:870.695905511811}"/>
</p:tagLst>
</file>

<file path=ppt/tags/tag11.xml><?xml version="1.0" encoding="utf-8"?>
<p:tagLst xmlns:p="http://schemas.openxmlformats.org/presentationml/2006/main">
  <p:tag name="KSO_WM_DIAGRAM_VIRTUALLY_FRAME" val="{&quot;height&quot;:226.8,&quot;left&quot;:44.64,&quot;top&quot;:128.16,&quot;width&quot;:870.695905511811}"/>
</p:tagLst>
</file>

<file path=ppt/tags/tag12.xml><?xml version="1.0" encoding="utf-8"?>
<p:tagLst xmlns:p="http://schemas.openxmlformats.org/presentationml/2006/main">
  <p:tag name="KSO_WM_DIAGRAM_VIRTUALLY_FRAME" val="{&quot;height&quot;:226.8,&quot;left&quot;:44.64,&quot;top&quot;:128.16,&quot;width&quot;:870.695905511811}"/>
</p:tagLst>
</file>

<file path=ppt/tags/tag13.xml><?xml version="1.0" encoding="utf-8"?>
<p:tagLst xmlns:p="http://schemas.openxmlformats.org/presentationml/2006/main">
  <p:tag name="KSO_WM_DIAGRAM_VIRTUALLY_FRAME" val="{&quot;height&quot;:226.8,&quot;left&quot;:44.64,&quot;top&quot;:128.16,&quot;width&quot;:870.695905511811}"/>
</p:tagLst>
</file>

<file path=ppt/tags/tag14.xml><?xml version="1.0" encoding="utf-8"?>
<p:tagLst xmlns:p="http://schemas.openxmlformats.org/presentationml/2006/main">
  <p:tag name="KSO_WM_DIAGRAM_VIRTUALLY_FRAME" val="{&quot;height&quot;:226.8,&quot;left&quot;:44.64,&quot;top&quot;:128.16,&quot;width&quot;:870.695905511811}"/>
</p:tagLst>
</file>

<file path=ppt/tags/tag15.xml><?xml version="1.0" encoding="utf-8"?>
<p:tagLst xmlns:p="http://schemas.openxmlformats.org/presentationml/2006/main">
  <p:tag name="KSO_WM_DIAGRAM_VIRTUALLY_FRAME" val="{&quot;height&quot;:226.8,&quot;left&quot;:44.64,&quot;top&quot;:128.16,&quot;width&quot;:870.695905511811}"/>
</p:tagLst>
</file>

<file path=ppt/tags/tag16.xml><?xml version="1.0" encoding="utf-8"?>
<p:tagLst xmlns:p="http://schemas.openxmlformats.org/presentationml/2006/main">
  <p:tag name="KSO_WM_DIAGRAM_VIRTUALLY_FRAME" val="{&quot;height&quot;:226.8,&quot;left&quot;:44.64,&quot;top&quot;:128.16,&quot;width&quot;:870.695905511811}"/>
</p:tagLst>
</file>

<file path=ppt/tags/tag17.xml><?xml version="1.0" encoding="utf-8"?>
<p:tagLst xmlns:p="http://schemas.openxmlformats.org/presentationml/2006/main">
  <p:tag name="KSO_WM_DIAGRAM_VIRTUALLY_FRAME" val="{&quot;height&quot;:226.8,&quot;left&quot;:44.64,&quot;top&quot;:128.16,&quot;width&quot;:870.695905511811}"/>
</p:tagLst>
</file>

<file path=ppt/tags/tag18.xml><?xml version="1.0" encoding="utf-8"?>
<p:tagLst xmlns:p="http://schemas.openxmlformats.org/presentationml/2006/main">
  <p:tag name="KSO_WM_DIAGRAM_VIRTUALLY_FRAME" val="{&quot;height&quot;:226.8,&quot;left&quot;:44.64,&quot;top&quot;:128.16,&quot;width&quot;:870.695905511811}"/>
</p:tagLst>
</file>

<file path=ppt/tags/tag19.xml><?xml version="1.0" encoding="utf-8"?>
<p:tagLst xmlns:p="http://schemas.openxmlformats.org/presentationml/2006/main">
  <p:tag name="KSO_WM_DIAGRAM_VIRTUALLY_FRAME" val="{&quot;height&quot;:226.8,&quot;left&quot;:44.64,&quot;top&quot;:128.16,&quot;width&quot;:870.695905511811}"/>
</p:tagLst>
</file>

<file path=ppt/tags/tag20.xml><?xml version="1.0" encoding="utf-8"?>
<p:tagLst xmlns:p="http://schemas.openxmlformats.org/presentationml/2006/main">
  <p:tag name="KSO_WM_DIAGRAM_VIRTUALLY_FRAME" val="{&quot;height&quot;:226.8,&quot;left&quot;:44.64,&quot;top&quot;:128.16,&quot;width&quot;:870.695905511811}"/>
</p:tagLst>
</file>

<file path=ppt/tags/tag21.xml><?xml version="1.0" encoding="utf-8"?>
<p:tagLst xmlns:p="http://schemas.openxmlformats.org/presentationml/2006/main">
  <p:tag name="KSO_WM_DIAGRAM_VIRTUALLY_FRAME" val="{&quot;height&quot;:226.8,&quot;left&quot;:44.64,&quot;top&quot;:128.16,&quot;width&quot;:870.695905511811}"/>
</p:tagLst>
</file>

<file path=ppt/tags/tag22.xml><?xml version="1.0" encoding="utf-8"?>
<p:tagLst xmlns:p="http://schemas.openxmlformats.org/presentationml/2006/main">
  <p:tag name="KSO_WM_DIAGRAM_VIRTUALLY_FRAME" val="{&quot;height&quot;:226.8,&quot;left&quot;:44.64,&quot;top&quot;:128.16,&quot;width&quot;:870.695905511811}"/>
</p:tagLst>
</file>

<file path=ppt/tags/tag23.xml><?xml version="1.0" encoding="utf-8"?>
<p:tagLst xmlns:p="http://schemas.openxmlformats.org/presentationml/2006/main">
  <p:tag name="KSO_WM_DIAGRAM_VIRTUALLY_FRAME" val="{&quot;height&quot;:226.8,&quot;left&quot;:44.64,&quot;top&quot;:128.16,&quot;width&quot;:870.695905511811}"/>
</p:tagLst>
</file>

<file path=ppt/tags/tag24.xml><?xml version="1.0" encoding="utf-8"?>
<p:tagLst xmlns:p="http://schemas.openxmlformats.org/presentationml/2006/main">
  <p:tag name="KSO_WM_DIAGRAM_VIRTUALLY_FRAME" val="{&quot;height&quot;:226.8,&quot;left&quot;:44.64,&quot;top&quot;:128.16,&quot;width&quot;:870.695905511811}"/>
</p:tagLst>
</file>

<file path=ppt/tags/tag25.xml><?xml version="1.0" encoding="utf-8"?>
<p:tagLst xmlns:p="http://schemas.openxmlformats.org/presentationml/2006/main">
  <p:tag name="KSO_WM_DIAGRAM_VIRTUALLY_FRAME" val="{&quot;height&quot;:226.8,&quot;left&quot;:44.64,&quot;top&quot;:128.16,&quot;width&quot;:870.695905511811}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5404</Words>
  <Application>WPS 演示</Application>
  <PresentationFormat>On-screen Show (4:3)</PresentationFormat>
  <Paragraphs>663</Paragraphs>
  <Slides>15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15</vt:i4>
      </vt:variant>
    </vt:vector>
  </HeadingPairs>
  <TitlesOfParts>
    <vt:vector size="23" baseType="lpstr">
      <vt:lpstr>Arial</vt:lpstr>
      <vt:lpstr>宋体</vt:lpstr>
      <vt:lpstr>Wingdings</vt:lpstr>
      <vt:lpstr>Arial</vt:lpstr>
      <vt:lpstr>微软雅黑</vt:lpstr>
      <vt:lpstr>Calibri</vt:lpstr>
      <vt:lpstr>Arial Unicode MS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dc:description>generated using python-pptx</dc:description>
  <cp:lastModifiedBy>麦包</cp:lastModifiedBy>
  <cp:revision>6</cp:revision>
  <dcterms:created xsi:type="dcterms:W3CDTF">2013-01-27T09:14:00Z</dcterms:created>
  <dcterms:modified xsi:type="dcterms:W3CDTF">2026-10-16T09:05:02Z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3D759D0AD5D445F8A74231CFB60AF277_12</vt:lpwstr>
  </property>
  <property fmtid="{D5CDD505-2E9C-101B-9397-08002B2CF9AE}" pid="3" name="KSOProductBuildVer">
    <vt:lpwstr>2052-12.1.0.29161</vt:lpwstr>
  </property>
</Properties>
</file>